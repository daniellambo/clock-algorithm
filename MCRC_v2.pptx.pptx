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Georgia Bold" charset="1" panose="02040802050405020203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Consolas Bold" charset="1" panose="020B0709020204030204"/>
      <p:regular r:id="rId28"/>
    </p:embeddedFont>
    <p:embeddedFont>
      <p:font typeface="Consolas" charset="1" panose="020B0609020204030204"/>
      <p:regular r:id="rId35"/>
    </p:embeddedFont>
    <p:embeddedFont>
      <p:font typeface="Consolas Italics" charset="1" panose="020B06090202040A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51943" y="-2755897"/>
            <a:ext cx="10083803" cy="10083803"/>
            <a:chOff x="0" y="0"/>
            <a:chExt cx="13445071" cy="13445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3411199" cy="13411201"/>
            </a:xfrm>
            <a:custGeom>
              <a:avLst/>
              <a:gdLst/>
              <a:ahLst/>
              <a:cxnLst/>
              <a:rect r="r" b="b" t="t" l="l"/>
              <a:pathLst>
                <a:path h="13411201" w="13411199">
                  <a:moveTo>
                    <a:pt x="0" y="6705600"/>
                  </a:moveTo>
                  <a:cubicBezTo>
                    <a:pt x="0" y="3002153"/>
                    <a:pt x="3002153" y="0"/>
                    <a:pt x="6705600" y="0"/>
                  </a:cubicBezTo>
                  <a:cubicBezTo>
                    <a:pt x="10409047" y="0"/>
                    <a:pt x="13411199" y="3002153"/>
                    <a:pt x="13411199" y="6705600"/>
                  </a:cubicBezTo>
                  <a:cubicBezTo>
                    <a:pt x="13411199" y="10409047"/>
                    <a:pt x="10409047" y="13411201"/>
                    <a:pt x="6705600" y="13411201"/>
                  </a:cubicBezTo>
                  <a:cubicBezTo>
                    <a:pt x="3002153" y="13411201"/>
                    <a:pt x="0" y="10409047"/>
                    <a:pt x="0" y="6705600"/>
                  </a:cubicBezTo>
                  <a:close/>
                </a:path>
              </a:pathLst>
            </a:custGeom>
            <a:solidFill>
              <a:srgbClr val="0A9396">
                <a:alpha val="1961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44982" cy="13444982"/>
            </a:xfrm>
            <a:custGeom>
              <a:avLst/>
              <a:gdLst/>
              <a:ahLst/>
              <a:cxnLst/>
              <a:rect r="r" b="b" t="t" l="l"/>
              <a:pathLst>
                <a:path h="13444982" w="13444982">
                  <a:moveTo>
                    <a:pt x="0" y="6722491"/>
                  </a:moveTo>
                  <a:cubicBezTo>
                    <a:pt x="0" y="3009773"/>
                    <a:pt x="3009773" y="0"/>
                    <a:pt x="6722491" y="0"/>
                  </a:cubicBezTo>
                  <a:lnTo>
                    <a:pt x="6722491" y="16891"/>
                  </a:lnTo>
                  <a:lnTo>
                    <a:pt x="6722491" y="0"/>
                  </a:lnTo>
                  <a:cubicBezTo>
                    <a:pt x="10435210" y="0"/>
                    <a:pt x="13444982" y="3009773"/>
                    <a:pt x="13444982" y="6722491"/>
                  </a:cubicBezTo>
                  <a:cubicBezTo>
                    <a:pt x="13444982" y="10435210"/>
                    <a:pt x="10435210" y="13444982"/>
                    <a:pt x="6722491" y="13444982"/>
                  </a:cubicBezTo>
                  <a:lnTo>
                    <a:pt x="6722491" y="13428092"/>
                  </a:lnTo>
                  <a:lnTo>
                    <a:pt x="6722491" y="13444982"/>
                  </a:lnTo>
                  <a:cubicBezTo>
                    <a:pt x="3009773" y="13445110"/>
                    <a:pt x="0" y="10435336"/>
                    <a:pt x="0" y="6722491"/>
                  </a:cubicBezTo>
                  <a:lnTo>
                    <a:pt x="16891" y="6722491"/>
                  </a:lnTo>
                  <a:lnTo>
                    <a:pt x="31115" y="6731635"/>
                  </a:lnTo>
                  <a:cubicBezTo>
                    <a:pt x="27051" y="6737985"/>
                    <a:pt x="19304" y="6740779"/>
                    <a:pt x="12065" y="6738748"/>
                  </a:cubicBezTo>
                  <a:cubicBezTo>
                    <a:pt x="4826" y="6736715"/>
                    <a:pt x="0" y="6729984"/>
                    <a:pt x="0" y="6722491"/>
                  </a:cubicBezTo>
                  <a:moveTo>
                    <a:pt x="33909" y="6722491"/>
                  </a:moveTo>
                  <a:lnTo>
                    <a:pt x="16891" y="6722491"/>
                  </a:lnTo>
                  <a:lnTo>
                    <a:pt x="2667" y="6713348"/>
                  </a:lnTo>
                  <a:cubicBezTo>
                    <a:pt x="6731" y="6706998"/>
                    <a:pt x="14478" y="6704203"/>
                    <a:pt x="21717" y="6706235"/>
                  </a:cubicBezTo>
                  <a:cubicBezTo>
                    <a:pt x="28956" y="6708267"/>
                    <a:pt x="33909" y="6714998"/>
                    <a:pt x="33909" y="6722491"/>
                  </a:cubicBezTo>
                  <a:cubicBezTo>
                    <a:pt x="33909" y="10416540"/>
                    <a:pt x="3028442" y="13411200"/>
                    <a:pt x="6722491" y="13411200"/>
                  </a:cubicBezTo>
                  <a:cubicBezTo>
                    <a:pt x="10416540" y="13411200"/>
                    <a:pt x="13411200" y="10416540"/>
                    <a:pt x="13411200" y="6722491"/>
                  </a:cubicBezTo>
                  <a:lnTo>
                    <a:pt x="13428090" y="6722491"/>
                  </a:lnTo>
                  <a:lnTo>
                    <a:pt x="13411200" y="6722491"/>
                  </a:lnTo>
                  <a:cubicBezTo>
                    <a:pt x="13411200" y="3028442"/>
                    <a:pt x="10416540" y="33909"/>
                    <a:pt x="6722491" y="33909"/>
                  </a:cubicBezTo>
                  <a:lnTo>
                    <a:pt x="6722491" y="16891"/>
                  </a:lnTo>
                  <a:lnTo>
                    <a:pt x="6722491" y="33909"/>
                  </a:lnTo>
                  <a:cubicBezTo>
                    <a:pt x="3028442" y="33909"/>
                    <a:pt x="33909" y="3028442"/>
                    <a:pt x="33909" y="6722491"/>
                  </a:cubicBez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64183" y="4745889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0A9396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810263"/>
            <a:ext cx="3500123" cy="665483"/>
            <a:chOff x="0" y="0"/>
            <a:chExt cx="4666831" cy="887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195072"/>
                  </a:moveTo>
                  <a:cubicBezTo>
                    <a:pt x="0" y="87376"/>
                    <a:pt x="90170" y="0"/>
                    <a:pt x="201295" y="0"/>
                  </a:cubicBezTo>
                  <a:lnTo>
                    <a:pt x="4431665" y="0"/>
                  </a:lnTo>
                  <a:cubicBezTo>
                    <a:pt x="4542917" y="0"/>
                    <a:pt x="4632960" y="87376"/>
                    <a:pt x="4632960" y="195072"/>
                  </a:cubicBezTo>
                  <a:lnTo>
                    <a:pt x="4632960" y="658368"/>
                  </a:lnTo>
                  <a:cubicBezTo>
                    <a:pt x="4632960" y="766064"/>
                    <a:pt x="4542790" y="853440"/>
                    <a:pt x="4431665" y="853440"/>
                  </a:cubicBezTo>
                  <a:lnTo>
                    <a:pt x="201422" y="853440"/>
                  </a:lnTo>
                  <a:cubicBezTo>
                    <a:pt x="90170" y="853440"/>
                    <a:pt x="127" y="766064"/>
                    <a:pt x="127" y="658368"/>
                  </a:cubicBez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66869" cy="887222"/>
            </a:xfrm>
            <a:custGeom>
              <a:avLst/>
              <a:gdLst/>
              <a:ahLst/>
              <a:cxnLst/>
              <a:rect r="r" b="b" t="t" l="l"/>
              <a:pathLst>
                <a:path h="887222" w="4666869">
                  <a:moveTo>
                    <a:pt x="0" y="211963"/>
                  </a:moveTo>
                  <a:cubicBezTo>
                    <a:pt x="0" y="94361"/>
                    <a:pt x="98171" y="0"/>
                    <a:pt x="218313" y="0"/>
                  </a:cubicBezTo>
                  <a:lnTo>
                    <a:pt x="4448556" y="0"/>
                  </a:lnTo>
                  <a:lnTo>
                    <a:pt x="4448556" y="16891"/>
                  </a:lnTo>
                  <a:lnTo>
                    <a:pt x="4448556" y="0"/>
                  </a:lnTo>
                  <a:cubicBezTo>
                    <a:pt x="4568571" y="0"/>
                    <a:pt x="4666869" y="94361"/>
                    <a:pt x="4666869" y="211963"/>
                  </a:cubicBezTo>
                  <a:lnTo>
                    <a:pt x="4649978" y="211963"/>
                  </a:lnTo>
                  <a:lnTo>
                    <a:pt x="4666869" y="211963"/>
                  </a:lnTo>
                  <a:lnTo>
                    <a:pt x="4666869" y="675259"/>
                  </a:lnTo>
                  <a:lnTo>
                    <a:pt x="4649978" y="675259"/>
                  </a:lnTo>
                  <a:lnTo>
                    <a:pt x="4666869" y="675259"/>
                  </a:lnTo>
                  <a:cubicBezTo>
                    <a:pt x="4666869" y="792861"/>
                    <a:pt x="4568698" y="887222"/>
                    <a:pt x="4448556" y="887222"/>
                  </a:cubicBezTo>
                  <a:lnTo>
                    <a:pt x="4448556" y="870331"/>
                  </a:lnTo>
                  <a:lnTo>
                    <a:pt x="4448556" y="887222"/>
                  </a:lnTo>
                  <a:lnTo>
                    <a:pt x="218313" y="887222"/>
                  </a:lnTo>
                  <a:lnTo>
                    <a:pt x="218313" y="870331"/>
                  </a:lnTo>
                  <a:lnTo>
                    <a:pt x="218313" y="887222"/>
                  </a:lnTo>
                  <a:cubicBezTo>
                    <a:pt x="98171" y="887349"/>
                    <a:pt x="0" y="792861"/>
                    <a:pt x="0" y="675259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675259"/>
                  </a:lnTo>
                  <a:lnTo>
                    <a:pt x="16891" y="675259"/>
                  </a:lnTo>
                  <a:lnTo>
                    <a:pt x="33909" y="675259"/>
                  </a:lnTo>
                  <a:cubicBezTo>
                    <a:pt x="33909" y="773176"/>
                    <a:pt x="115951" y="853440"/>
                    <a:pt x="218313" y="853440"/>
                  </a:cubicBezTo>
                  <a:lnTo>
                    <a:pt x="4448556" y="853440"/>
                  </a:lnTo>
                  <a:cubicBezTo>
                    <a:pt x="4550918" y="853440"/>
                    <a:pt x="4632960" y="773176"/>
                    <a:pt x="4632960" y="675259"/>
                  </a:cubicBezTo>
                  <a:lnTo>
                    <a:pt x="4632960" y="211963"/>
                  </a:lnTo>
                  <a:cubicBezTo>
                    <a:pt x="4632960" y="114046"/>
                    <a:pt x="4550918" y="33782"/>
                    <a:pt x="4448556" y="33782"/>
                  </a:cubicBezTo>
                  <a:lnTo>
                    <a:pt x="218313" y="33782"/>
                  </a:lnTo>
                  <a:lnTo>
                    <a:pt x="218313" y="16891"/>
                  </a:lnTo>
                  <a:lnTo>
                    <a:pt x="218313" y="33909"/>
                  </a:lnTo>
                  <a:cubicBezTo>
                    <a:pt x="115951" y="33909"/>
                    <a:pt x="33909" y="114173"/>
                    <a:pt x="33909" y="211963"/>
                  </a:cubicBez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22960"/>
            <a:ext cx="3474720" cy="640080"/>
            <a:chOff x="0" y="0"/>
            <a:chExt cx="463296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32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VERSION 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1645920"/>
            <a:ext cx="16459200" cy="1828800"/>
            <a:chOff x="0" y="0"/>
            <a:chExt cx="219456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199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Mirror Clock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383280"/>
            <a:ext cx="16459200" cy="1645920"/>
            <a:chOff x="0" y="0"/>
            <a:chExt cx="2194560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b="true" sz="10400" spc="199">
                  <a:solidFill>
                    <a:srgbClr val="94D2B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Reverse Cipher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212080"/>
            <a:ext cx="13716000" cy="1280160"/>
            <a:chOff x="0" y="0"/>
            <a:chExt cx="182880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2880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MCRC — A Multi-Round Hybrid Encryption Algorithm with a Functional Time-Based Key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8869680"/>
            <a:ext cx="16459200" cy="731520"/>
            <a:chOff x="0" y="0"/>
            <a:chExt cx="219456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Daniel Lambo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Jordan Barnes   ·   </a:t>
              </a: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Zizwe Mtonga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Amarachi Ezekiel   ·   </a:t>
              </a:r>
              <a:r>
                <a:rPr lang="en-US" sz="2200">
                  <a:solidFill>
                    <a:srgbClr val="E9F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Tapiwa Musinga   ·   </a:t>
              </a:r>
              <a:r>
                <a:rPr lang="en-US" sz="22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Ibrahim Traore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9601200"/>
            <a:ext cx="16459200" cy="548640"/>
            <a:chOff x="0" y="0"/>
            <a:chExt cx="21945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 386  ·  Spring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852160"/>
            <a:ext cx="13716000" cy="1280160"/>
            <a:chOff x="0" y="0"/>
            <a:chExt cx="1828800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82880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E9F5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Professor: Dr Ed Pearson III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45720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554480"/>
            <a:ext cx="17190720" cy="731520"/>
            <a:chOff x="0" y="0"/>
            <a:chExt cx="229209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92096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is the Mirror Clock Reverse Cipher (MCRC)?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248781"/>
            <a:ext cx="3698653" cy="5146043"/>
            <a:chOff x="0" y="0"/>
            <a:chExt cx="4931537" cy="686139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🕐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Clockface Cipher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38614" y="2965869"/>
              <a:ext cx="42543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Alphabetic substitution using a dual-ring analog clock layout, driven by a time key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06016" y="3248781"/>
            <a:ext cx="3698653" cy="5146043"/>
            <a:chOff x="0" y="0"/>
            <a:chExt cx="4931537" cy="686139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↔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4987" y="1548057"/>
              <a:ext cx="4581554" cy="1595089"/>
              <a:chOff x="0" y="0"/>
              <a:chExt cx="4581554" cy="159508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581554" cy="1595089"/>
              </a:xfrm>
              <a:custGeom>
                <a:avLst/>
                <a:gdLst/>
                <a:ahLst/>
                <a:cxnLst/>
                <a:rect r="r" b="b" t="t" l="l"/>
                <a:pathLst>
                  <a:path h="1595089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595089"/>
                    </a:lnTo>
                    <a:lnTo>
                      <a:pt x="0" y="159508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006" r="-49021" b="-17798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4581554" cy="166176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Mirror Permutation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38614" y="2965869"/>
              <a:ext cx="42543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Reversal of character order — applied twice (after each substitution step)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3332" y="3248781"/>
            <a:ext cx="3698653" cy="5146043"/>
            <a:chOff x="0" y="0"/>
            <a:chExt cx="4931537" cy="686139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🔢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Reverse Cipher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8614" y="2965869"/>
              <a:ext cx="4254300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Letters converted to reversed numerical values (A=25, Z=00)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60647" y="3248781"/>
            <a:ext cx="3698653" cy="5146043"/>
            <a:chOff x="0" y="0"/>
            <a:chExt cx="4931537" cy="686139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4931537" cy="6861391"/>
              <a:chOff x="0" y="0"/>
              <a:chExt cx="4931537" cy="6861391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11335" y="16891"/>
                <a:ext cx="4908808" cy="6827520"/>
              </a:xfrm>
              <a:custGeom>
                <a:avLst/>
                <a:gdLst/>
                <a:ahLst/>
                <a:cxnLst/>
                <a:rect r="r" b="b" t="t" l="l"/>
                <a:pathLst>
                  <a:path h="6827520" w="4908808">
                    <a:moveTo>
                      <a:pt x="0" y="0"/>
                    </a:moveTo>
                    <a:lnTo>
                      <a:pt x="4908808" y="0"/>
                    </a:lnTo>
                    <a:lnTo>
                      <a:pt x="4908808" y="6827520"/>
                    </a:lnTo>
                    <a:lnTo>
                      <a:pt x="0" y="6827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931477" cy="6861301"/>
              </a:xfrm>
              <a:custGeom>
                <a:avLst/>
                <a:gdLst/>
                <a:ahLst/>
                <a:cxnLst/>
                <a:rect r="r" b="b" t="t" l="l"/>
                <a:pathLst>
                  <a:path h="6861301" w="4931477">
                    <a:moveTo>
                      <a:pt x="11335" y="0"/>
                    </a:moveTo>
                    <a:lnTo>
                      <a:pt x="4920143" y="0"/>
                    </a:lnTo>
                    <a:cubicBezTo>
                      <a:pt x="4926449" y="0"/>
                      <a:pt x="4931477" y="7620"/>
                      <a:pt x="4931477" y="16891"/>
                    </a:cubicBezTo>
                    <a:lnTo>
                      <a:pt x="4931477" y="6844411"/>
                    </a:lnTo>
                    <a:cubicBezTo>
                      <a:pt x="4931477" y="6853809"/>
                      <a:pt x="4926364" y="6861301"/>
                      <a:pt x="4920143" y="6861301"/>
                    </a:cubicBezTo>
                    <a:lnTo>
                      <a:pt x="11335" y="6861301"/>
                    </a:lnTo>
                    <a:cubicBezTo>
                      <a:pt x="5028" y="6861301"/>
                      <a:pt x="0" y="6853682"/>
                      <a:pt x="0" y="6844411"/>
                    </a:cubicBezTo>
                    <a:lnTo>
                      <a:pt x="0" y="16891"/>
                    </a:lnTo>
                    <a:cubicBezTo>
                      <a:pt x="0" y="7620"/>
                      <a:pt x="5113" y="0"/>
                      <a:pt x="11335" y="0"/>
                    </a:cubicBezTo>
                    <a:moveTo>
                      <a:pt x="11335" y="33909"/>
                    </a:moveTo>
                    <a:lnTo>
                      <a:pt x="11335" y="16891"/>
                    </a:lnTo>
                    <a:lnTo>
                      <a:pt x="22754" y="16891"/>
                    </a:lnTo>
                    <a:lnTo>
                      <a:pt x="22754" y="6844411"/>
                    </a:lnTo>
                    <a:lnTo>
                      <a:pt x="11335" y="6844411"/>
                    </a:lnTo>
                    <a:lnTo>
                      <a:pt x="11335" y="6827520"/>
                    </a:lnTo>
                    <a:lnTo>
                      <a:pt x="4920143" y="6827520"/>
                    </a:lnTo>
                    <a:lnTo>
                      <a:pt x="4920143" y="6844411"/>
                    </a:lnTo>
                    <a:lnTo>
                      <a:pt x="4908808" y="6844411"/>
                    </a:lnTo>
                    <a:lnTo>
                      <a:pt x="4908808" y="16891"/>
                    </a:lnTo>
                    <a:lnTo>
                      <a:pt x="4920143" y="16891"/>
                    </a:lnTo>
                    <a:lnTo>
                      <a:pt x="4920143" y="33909"/>
                    </a:lnTo>
                    <a:lnTo>
                      <a:pt x="11335" y="33909"/>
                    </a:lnTo>
                    <a:close/>
                  </a:path>
                </a:pathLst>
              </a:custGeom>
              <a:solidFill>
                <a:srgbClr val="94D2BD"/>
              </a:soli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174987" y="243088"/>
              <a:ext cx="4581554" cy="1498402"/>
              <a:chOff x="0" y="0"/>
              <a:chExt cx="4581554" cy="149840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581554" cy="1498402"/>
              </a:xfrm>
              <a:custGeom>
                <a:avLst/>
                <a:gdLst/>
                <a:ahLst/>
                <a:cxnLst/>
                <a:rect r="r" b="b" t="t" l="l"/>
                <a:pathLst>
                  <a:path h="1498402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498402"/>
                    </a:lnTo>
                    <a:lnTo>
                      <a:pt x="0" y="149840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9964" r="-49021" b="-37604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14300"/>
                <a:ext cx="4581554" cy="16127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🔢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74987" y="1796961"/>
              <a:ext cx="4581554" cy="1097280"/>
              <a:chOff x="0" y="0"/>
              <a:chExt cx="4581554" cy="109728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581554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4581554">
                    <a:moveTo>
                      <a:pt x="0" y="0"/>
                    </a:moveTo>
                    <a:lnTo>
                      <a:pt x="4581554" y="0"/>
                    </a:lnTo>
                    <a:lnTo>
                      <a:pt x="4581554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71240" r="-49021" b="-71240"/>
                </a:stretch>
              </a:blip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66675"/>
                <a:ext cx="4581554" cy="11639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0D1B2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Pair Swapping</a:t>
                </a: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338614" y="2965869"/>
              <a:ext cx="4254300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Swap consecutive number pairs. Leave lone pairs alone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402336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Mechanism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99616"/>
            <a:ext cx="17190720" cy="694944"/>
            <a:chOff x="0" y="0"/>
            <a:chExt cx="2292096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9209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Think of MCRC as a Caesar cipher — except it rotates two alphabet rings on a clockface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2815760"/>
            <a:ext cx="17216123" cy="4597403"/>
            <a:chOff x="0" y="0"/>
            <a:chExt cx="22954831" cy="6129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6129782"/>
            </a:xfrm>
            <a:custGeom>
              <a:avLst/>
              <a:gdLst/>
              <a:ahLst/>
              <a:cxnLst/>
              <a:rect r="r" b="b" t="t" l="l"/>
              <a:pathLst>
                <a:path h="612978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112891"/>
                  </a:lnTo>
                  <a:cubicBezTo>
                    <a:pt x="22954743" y="6122289"/>
                    <a:pt x="22947123" y="6129782"/>
                    <a:pt x="22937851" y="6129782"/>
                  </a:cubicBezTo>
                  <a:lnTo>
                    <a:pt x="16891" y="6129782"/>
                  </a:lnTo>
                  <a:cubicBezTo>
                    <a:pt x="7493" y="6129782"/>
                    <a:pt x="0" y="6122162"/>
                    <a:pt x="0" y="6112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12891"/>
                  </a:lnTo>
                  <a:lnTo>
                    <a:pt x="16891" y="6112891"/>
                  </a:lnTo>
                  <a:lnTo>
                    <a:pt x="16891" y="6096000"/>
                  </a:lnTo>
                  <a:lnTo>
                    <a:pt x="22937851" y="6096000"/>
                  </a:lnTo>
                  <a:lnTo>
                    <a:pt x="22937851" y="6112891"/>
                  </a:lnTo>
                  <a:lnTo>
                    <a:pt x="22920961" y="61128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956473"/>
            <a:ext cx="3657600" cy="548640"/>
            <a:chOff x="0" y="0"/>
            <a:chExt cx="4876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Inner 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63" y="3547280"/>
            <a:ext cx="1122683" cy="1031243"/>
            <a:chOff x="0" y="0"/>
            <a:chExt cx="149691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559977"/>
            <a:ext cx="1097280" cy="1005840"/>
            <a:chOff x="0" y="0"/>
            <a:chExt cx="14630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26999" y="3547280"/>
            <a:ext cx="1122683" cy="1031243"/>
            <a:chOff x="0" y="0"/>
            <a:chExt cx="149691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139696" y="3559977"/>
            <a:ext cx="1097280" cy="1005840"/>
            <a:chOff x="0" y="0"/>
            <a:chExt cx="14630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43735" y="3547280"/>
            <a:ext cx="1122683" cy="1031243"/>
            <a:chOff x="0" y="0"/>
            <a:chExt cx="149691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456432" y="3559977"/>
            <a:ext cx="1097280" cy="1005840"/>
            <a:chOff x="0" y="0"/>
            <a:chExt cx="146304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760471" y="3547280"/>
            <a:ext cx="1122683" cy="1031243"/>
            <a:chOff x="0" y="0"/>
            <a:chExt cx="1496911" cy="1374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773168" y="3559977"/>
            <a:ext cx="1097280" cy="1005840"/>
            <a:chOff x="0" y="0"/>
            <a:chExt cx="146304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77207" y="3547280"/>
            <a:ext cx="1122683" cy="1031243"/>
            <a:chOff x="0" y="0"/>
            <a:chExt cx="149691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89904" y="3559977"/>
            <a:ext cx="1097280" cy="1005840"/>
            <a:chOff x="0" y="0"/>
            <a:chExt cx="146304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93943" y="3547280"/>
            <a:ext cx="1122683" cy="1031243"/>
            <a:chOff x="0" y="0"/>
            <a:chExt cx="1496911" cy="13749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406640" y="3559977"/>
            <a:ext cx="1097280" cy="1005840"/>
            <a:chOff x="0" y="0"/>
            <a:chExt cx="14630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10679" y="3547280"/>
            <a:ext cx="1122683" cy="1031243"/>
            <a:chOff x="0" y="0"/>
            <a:chExt cx="1496911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723376" y="3559977"/>
            <a:ext cx="1097280" cy="1005840"/>
            <a:chOff x="0" y="0"/>
            <a:chExt cx="146304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27415" y="3547280"/>
            <a:ext cx="1122683" cy="1031243"/>
            <a:chOff x="0" y="0"/>
            <a:chExt cx="149691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040112" y="3559977"/>
            <a:ext cx="1097280" cy="1005840"/>
            <a:chOff x="0" y="0"/>
            <a:chExt cx="146304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344151" y="3547280"/>
            <a:ext cx="1122683" cy="1031243"/>
            <a:chOff x="0" y="0"/>
            <a:chExt cx="1496911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356848" y="3559977"/>
            <a:ext cx="1097280" cy="1005840"/>
            <a:chOff x="0" y="0"/>
            <a:chExt cx="1463040" cy="13411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660887" y="3547280"/>
            <a:ext cx="1122683" cy="1031243"/>
            <a:chOff x="0" y="0"/>
            <a:chExt cx="1496911" cy="13749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673584" y="3559977"/>
            <a:ext cx="1097280" cy="1005840"/>
            <a:chOff x="0" y="0"/>
            <a:chExt cx="1463040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977623" y="3547280"/>
            <a:ext cx="1122683" cy="1031243"/>
            <a:chOff x="0" y="0"/>
            <a:chExt cx="1496911" cy="13749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990320" y="3559977"/>
            <a:ext cx="1097280" cy="1005840"/>
            <a:chOff x="0" y="0"/>
            <a:chExt cx="1463040" cy="13411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294359" y="3547280"/>
            <a:ext cx="1122683" cy="1031243"/>
            <a:chOff x="0" y="0"/>
            <a:chExt cx="1496911" cy="13749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307056" y="3559977"/>
            <a:ext cx="1097280" cy="1005840"/>
            <a:chOff x="0" y="0"/>
            <a:chExt cx="146304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4712121"/>
            <a:ext cx="3657600" cy="548640"/>
            <a:chOff x="0" y="0"/>
            <a:chExt cx="487680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Outer Ring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10263" y="5248064"/>
            <a:ext cx="1122683" cy="1031243"/>
            <a:chOff x="0" y="0"/>
            <a:chExt cx="1496911" cy="137499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22960" y="5260761"/>
            <a:ext cx="1097280" cy="1005840"/>
            <a:chOff x="0" y="0"/>
            <a:chExt cx="1463040" cy="13411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126999" y="5248064"/>
            <a:ext cx="1122683" cy="1031243"/>
            <a:chOff x="0" y="0"/>
            <a:chExt cx="1496911" cy="13749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139696" y="5260761"/>
            <a:ext cx="1097280" cy="1005840"/>
            <a:chOff x="0" y="0"/>
            <a:chExt cx="1463040" cy="13411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443735" y="5248064"/>
            <a:ext cx="1122683" cy="1031243"/>
            <a:chOff x="0" y="0"/>
            <a:chExt cx="1496911" cy="13749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3456432" y="5260761"/>
            <a:ext cx="1097280" cy="1005840"/>
            <a:chOff x="0" y="0"/>
            <a:chExt cx="1463040" cy="13411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760471" y="5248064"/>
            <a:ext cx="1122683" cy="1031243"/>
            <a:chOff x="0" y="0"/>
            <a:chExt cx="1496911" cy="137499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4773168" y="5260761"/>
            <a:ext cx="1097280" cy="1005840"/>
            <a:chOff x="0" y="0"/>
            <a:chExt cx="1463040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077207" y="5248064"/>
            <a:ext cx="1122683" cy="1031243"/>
            <a:chOff x="0" y="0"/>
            <a:chExt cx="1496911" cy="137499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089904" y="5260761"/>
            <a:ext cx="1097280" cy="1005840"/>
            <a:chOff x="0" y="0"/>
            <a:chExt cx="1463040" cy="13411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7393943" y="5248064"/>
            <a:ext cx="1122683" cy="1031243"/>
            <a:chOff x="0" y="0"/>
            <a:chExt cx="149691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406640" y="5260761"/>
            <a:ext cx="1097280" cy="1005840"/>
            <a:chOff x="0" y="0"/>
            <a:chExt cx="146304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8710679" y="5248064"/>
            <a:ext cx="1122683" cy="1031243"/>
            <a:chOff x="0" y="0"/>
            <a:chExt cx="1496911" cy="137499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723376" y="5260761"/>
            <a:ext cx="1097280" cy="1005840"/>
            <a:chOff x="0" y="0"/>
            <a:chExt cx="1463040" cy="13411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027415" y="5248064"/>
            <a:ext cx="1122683" cy="1031243"/>
            <a:chOff x="0" y="0"/>
            <a:chExt cx="1496911" cy="137499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040112" y="5260761"/>
            <a:ext cx="1097280" cy="1005840"/>
            <a:chOff x="0" y="0"/>
            <a:chExt cx="1463040" cy="13411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344151" y="5248064"/>
            <a:ext cx="1122683" cy="1031243"/>
            <a:chOff x="0" y="0"/>
            <a:chExt cx="1496911" cy="137499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356848" y="5260761"/>
            <a:ext cx="1097280" cy="1005840"/>
            <a:chOff x="0" y="0"/>
            <a:chExt cx="1463040" cy="13411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660887" y="5248064"/>
            <a:ext cx="1122683" cy="1031243"/>
            <a:chOff x="0" y="0"/>
            <a:chExt cx="1496911" cy="137499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673584" y="5260761"/>
            <a:ext cx="1097280" cy="1005840"/>
            <a:chOff x="0" y="0"/>
            <a:chExt cx="1463040" cy="13411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3977623" y="5248064"/>
            <a:ext cx="1122683" cy="1031243"/>
            <a:chOff x="0" y="0"/>
            <a:chExt cx="1496911" cy="137499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990320" y="5260761"/>
            <a:ext cx="1097280" cy="1005840"/>
            <a:chOff x="0" y="0"/>
            <a:chExt cx="1463040" cy="13411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5294359" y="5248064"/>
            <a:ext cx="1122683" cy="1031243"/>
            <a:chOff x="0" y="0"/>
            <a:chExt cx="1496911" cy="1374991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49682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496822">
                  <a:moveTo>
                    <a:pt x="16891" y="0"/>
                  </a:moveTo>
                  <a:lnTo>
                    <a:pt x="1479931" y="0"/>
                  </a:lnTo>
                  <a:cubicBezTo>
                    <a:pt x="1489329" y="0"/>
                    <a:pt x="1496822" y="7620"/>
                    <a:pt x="1496822" y="16891"/>
                  </a:cubicBezTo>
                  <a:lnTo>
                    <a:pt x="1496822" y="1358011"/>
                  </a:lnTo>
                  <a:cubicBezTo>
                    <a:pt x="1496822" y="1367409"/>
                    <a:pt x="1489202" y="1374902"/>
                    <a:pt x="147993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479931" y="1341120"/>
                  </a:lnTo>
                  <a:lnTo>
                    <a:pt x="1479931" y="1358011"/>
                  </a:lnTo>
                  <a:lnTo>
                    <a:pt x="1463040" y="1358011"/>
                  </a:lnTo>
                  <a:lnTo>
                    <a:pt x="1463040" y="16891"/>
                  </a:lnTo>
                  <a:lnTo>
                    <a:pt x="1479931" y="16891"/>
                  </a:lnTo>
                  <a:lnTo>
                    <a:pt x="1479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5307056" y="5260761"/>
            <a:ext cx="1097280" cy="1005840"/>
            <a:chOff x="0" y="0"/>
            <a:chExt cx="1463040" cy="134112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463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611" t="0" r="-67611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463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810263" y="6528224"/>
            <a:ext cx="218437" cy="665483"/>
            <a:chOff x="0" y="0"/>
            <a:chExt cx="291249" cy="887311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836" y="16891"/>
              <a:ext cx="289573" cy="853440"/>
            </a:xfrm>
            <a:custGeom>
              <a:avLst/>
              <a:gdLst/>
              <a:ahLst/>
              <a:cxnLst/>
              <a:rect r="r" b="b" t="t" l="l"/>
              <a:pathLst>
                <a:path h="853440" w="289573">
                  <a:moveTo>
                    <a:pt x="0" y="0"/>
                  </a:moveTo>
                  <a:lnTo>
                    <a:pt x="289573" y="0"/>
                  </a:lnTo>
                  <a:lnTo>
                    <a:pt x="289573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91245" cy="887224"/>
            </a:xfrm>
            <a:custGeom>
              <a:avLst/>
              <a:gdLst/>
              <a:ahLst/>
              <a:cxnLst/>
              <a:rect r="r" b="b" t="t" l="l"/>
              <a:pathLst>
                <a:path h="887224" w="291245">
                  <a:moveTo>
                    <a:pt x="836" y="0"/>
                  </a:moveTo>
                  <a:lnTo>
                    <a:pt x="290409" y="0"/>
                  </a:lnTo>
                  <a:cubicBezTo>
                    <a:pt x="290874" y="0"/>
                    <a:pt x="291245" y="7620"/>
                    <a:pt x="291245" y="16891"/>
                  </a:cubicBezTo>
                  <a:lnTo>
                    <a:pt x="291245" y="870331"/>
                  </a:lnTo>
                  <a:cubicBezTo>
                    <a:pt x="291245" y="879729"/>
                    <a:pt x="290868" y="887222"/>
                    <a:pt x="290409" y="887222"/>
                  </a:cubicBezTo>
                  <a:lnTo>
                    <a:pt x="836" y="887222"/>
                  </a:lnTo>
                  <a:cubicBezTo>
                    <a:pt x="377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377" y="0"/>
                    <a:pt x="836" y="0"/>
                  </a:cubicBezTo>
                  <a:moveTo>
                    <a:pt x="836" y="33909"/>
                  </a:moveTo>
                  <a:lnTo>
                    <a:pt x="836" y="16891"/>
                  </a:lnTo>
                  <a:lnTo>
                    <a:pt x="1678" y="16891"/>
                  </a:lnTo>
                  <a:lnTo>
                    <a:pt x="1678" y="870331"/>
                  </a:lnTo>
                  <a:lnTo>
                    <a:pt x="836" y="870331"/>
                  </a:lnTo>
                  <a:lnTo>
                    <a:pt x="836" y="853440"/>
                  </a:lnTo>
                  <a:lnTo>
                    <a:pt x="290409" y="853440"/>
                  </a:lnTo>
                  <a:lnTo>
                    <a:pt x="290409" y="870331"/>
                  </a:lnTo>
                  <a:lnTo>
                    <a:pt x="289573" y="870331"/>
                  </a:lnTo>
                  <a:lnTo>
                    <a:pt x="289573" y="16891"/>
                  </a:lnTo>
                  <a:lnTo>
                    <a:pt x="290409" y="16891"/>
                  </a:lnTo>
                  <a:lnTo>
                    <a:pt x="290409" y="33909"/>
                  </a:lnTo>
                  <a:lnTo>
                    <a:pt x="836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149574" y="6553628"/>
            <a:ext cx="11317261" cy="640080"/>
            <a:chOff x="0" y="0"/>
            <a:chExt cx="15089681" cy="85344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5089680" cy="853440"/>
            </a:xfrm>
            <a:custGeom>
              <a:avLst/>
              <a:gdLst/>
              <a:ahLst/>
              <a:cxnLst/>
              <a:rect r="r" b="b" t="t" l="l"/>
              <a:pathLst>
                <a:path h="853440" w="15089680">
                  <a:moveTo>
                    <a:pt x="0" y="0"/>
                  </a:moveTo>
                  <a:lnTo>
                    <a:pt x="15089680" y="0"/>
                  </a:lnTo>
                  <a:lnTo>
                    <a:pt x="15089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745" r="-50282" b="-46774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5089681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Specials: M ↔ Z always swap (never rotate)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535943" y="7442624"/>
            <a:ext cx="17216123" cy="1645333"/>
            <a:chOff x="0" y="0"/>
            <a:chExt cx="22954831" cy="219377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0381"/>
              <a:ext cx="22920960" cy="2172960"/>
            </a:xfrm>
            <a:custGeom>
              <a:avLst/>
              <a:gdLst/>
              <a:ahLst/>
              <a:cxnLst/>
              <a:rect r="r" b="b" t="t" l="l"/>
              <a:pathLst>
                <a:path h="21729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2172960"/>
                  </a:lnTo>
                  <a:lnTo>
                    <a:pt x="0" y="2172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2954743" cy="2193722"/>
            </a:xfrm>
            <a:custGeom>
              <a:avLst/>
              <a:gdLst/>
              <a:ahLst/>
              <a:cxnLst/>
              <a:rect r="r" b="b" t="t" l="l"/>
              <a:pathLst>
                <a:path h="219372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4683"/>
                    <a:pt x="22954743" y="10381"/>
                  </a:cubicBezTo>
                  <a:lnTo>
                    <a:pt x="22954743" y="2183341"/>
                  </a:lnTo>
                  <a:cubicBezTo>
                    <a:pt x="22954743" y="2189117"/>
                    <a:pt x="22947123" y="2193722"/>
                    <a:pt x="22937851" y="2193722"/>
                  </a:cubicBezTo>
                  <a:lnTo>
                    <a:pt x="16891" y="2193722"/>
                  </a:lnTo>
                  <a:cubicBezTo>
                    <a:pt x="7493" y="2193722"/>
                    <a:pt x="0" y="2189039"/>
                    <a:pt x="0" y="2183341"/>
                  </a:cubicBezTo>
                  <a:lnTo>
                    <a:pt x="0" y="10381"/>
                  </a:lnTo>
                  <a:cubicBezTo>
                    <a:pt x="0" y="4683"/>
                    <a:pt x="7620" y="0"/>
                    <a:pt x="16891" y="0"/>
                  </a:cubicBezTo>
                  <a:moveTo>
                    <a:pt x="16891" y="20840"/>
                  </a:moveTo>
                  <a:lnTo>
                    <a:pt x="16891" y="10381"/>
                  </a:lnTo>
                  <a:lnTo>
                    <a:pt x="33909" y="10381"/>
                  </a:lnTo>
                  <a:lnTo>
                    <a:pt x="33909" y="2183341"/>
                  </a:lnTo>
                  <a:lnTo>
                    <a:pt x="16891" y="2183341"/>
                  </a:lnTo>
                  <a:lnTo>
                    <a:pt x="16891" y="2172960"/>
                  </a:lnTo>
                  <a:lnTo>
                    <a:pt x="22937851" y="2172960"/>
                  </a:lnTo>
                  <a:lnTo>
                    <a:pt x="22937851" y="2183341"/>
                  </a:lnTo>
                  <a:lnTo>
                    <a:pt x="22920961" y="2183341"/>
                  </a:lnTo>
                  <a:lnTo>
                    <a:pt x="22920961" y="10381"/>
                  </a:lnTo>
                  <a:lnTo>
                    <a:pt x="22937851" y="10381"/>
                  </a:lnTo>
                  <a:lnTo>
                    <a:pt x="22937851" y="20840"/>
                  </a:lnTo>
                  <a:lnTo>
                    <a:pt x="16891" y="2084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14400" y="7638201"/>
            <a:ext cx="16459200" cy="548640"/>
            <a:chOff x="0" y="0"/>
            <a:chExt cx="21945600" cy="73152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Example at key 3:20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14400" y="8278281"/>
            <a:ext cx="16459200" cy="640080"/>
            <a:chOff x="0" y="0"/>
            <a:chExt cx="21945600" cy="853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4D2B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Hour = 3  →  inner ring rotates 3 positions     Minute = 20  →  outer ring rotates 20 ÷ 5 = 4 positions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 · Clockface Substitution (Key 3:20)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16128" y="1585514"/>
          <a:ext cx="17475200" cy="2017183"/>
        </p:xfrm>
        <a:graphic>
          <a:graphicData uri="http://schemas.openxmlformats.org/drawingml/2006/table">
            <a:tbl>
              <a:tblPr/>
              <a:tblGrid>
                <a:gridCol w="1622916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  <a:gridCol w="1321024"/>
              </a:tblGrid>
              <a:tr h="6603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7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Inner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4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548640" y="3803904"/>
            <a:ext cx="17190720" cy="585216"/>
            <a:chOff x="0" y="0"/>
            <a:chExt cx="2292096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29209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letter maps to its same-position letter on the opposite 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943" y="4595879"/>
            <a:ext cx="17216123" cy="756923"/>
            <a:chOff x="0" y="0"/>
            <a:chExt cx="22954831" cy="10092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292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54743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92251"/>
                  </a:lnTo>
                  <a:cubicBezTo>
                    <a:pt x="22954743" y="1001649"/>
                    <a:pt x="22947123" y="1009142"/>
                    <a:pt x="22937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2937851" y="975360"/>
                  </a:lnTo>
                  <a:lnTo>
                    <a:pt x="22937851" y="992251"/>
                  </a:lnTo>
                  <a:lnTo>
                    <a:pt x="22920961" y="99225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" y="4608576"/>
            <a:ext cx="17190720" cy="731520"/>
            <a:chOff x="0" y="0"/>
            <a:chExt cx="229209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Encrypting QUEEN with key 3:20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8903" y="5565143"/>
            <a:ext cx="2768603" cy="3225803"/>
            <a:chOff x="0" y="0"/>
            <a:chExt cx="3691471" cy="4301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5669280"/>
            <a:ext cx="2743200" cy="1005840"/>
            <a:chOff x="0" y="0"/>
            <a:chExt cx="3657600" cy="1341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6675120"/>
            <a:ext cx="2743200" cy="512064"/>
            <a:chOff x="0" y="0"/>
            <a:chExt cx="36576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7187184"/>
            <a:ext cx="2743200" cy="1005840"/>
            <a:chOff x="0" y="0"/>
            <a:chExt cx="365760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8720" y="8229600"/>
            <a:ext cx="3108960" cy="640080"/>
            <a:chOff x="0" y="0"/>
            <a:chExt cx="41452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4 → inner pos 8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14167" y="5565143"/>
            <a:ext cx="2768603" cy="3225803"/>
            <a:chOff x="0" y="0"/>
            <a:chExt cx="3691471" cy="43010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626864" y="5669280"/>
            <a:ext cx="2743200" cy="1005840"/>
            <a:chOff x="0" y="0"/>
            <a:chExt cx="3657600" cy="134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626864" y="6675120"/>
            <a:ext cx="2743200" cy="512064"/>
            <a:chOff x="0" y="0"/>
            <a:chExt cx="36576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626864" y="7187184"/>
            <a:ext cx="2743200" cy="1005840"/>
            <a:chOff x="0" y="0"/>
            <a:chExt cx="365760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443984" y="8229600"/>
            <a:ext cx="3108960" cy="640080"/>
            <a:chOff x="0" y="0"/>
            <a:chExt cx="414528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8 → inner pos 12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869431" y="5565143"/>
            <a:ext cx="2768603" cy="3225803"/>
            <a:chOff x="0" y="0"/>
            <a:chExt cx="3691471" cy="4301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882128" y="5669280"/>
            <a:ext cx="2743200" cy="1005840"/>
            <a:chOff x="0" y="0"/>
            <a:chExt cx="365760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882128" y="6675120"/>
            <a:ext cx="2743200" cy="512064"/>
            <a:chOff x="0" y="0"/>
            <a:chExt cx="365760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882128" y="7187184"/>
            <a:ext cx="2743200" cy="1005840"/>
            <a:chOff x="0" y="0"/>
            <a:chExt cx="3657600" cy="1341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699248" y="8229600"/>
            <a:ext cx="3108960" cy="640080"/>
            <a:chOff x="0" y="0"/>
            <a:chExt cx="4145280" cy="8534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5 → outer pos 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24695" y="5565143"/>
            <a:ext cx="2768603" cy="3225803"/>
            <a:chOff x="0" y="0"/>
            <a:chExt cx="3691471" cy="43010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137392" y="5669280"/>
            <a:ext cx="2743200" cy="1005840"/>
            <a:chOff x="0" y="0"/>
            <a:chExt cx="3657600" cy="13411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137392" y="6675120"/>
            <a:ext cx="2743200" cy="512064"/>
            <a:chOff x="0" y="0"/>
            <a:chExt cx="365760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137392" y="7187184"/>
            <a:ext cx="2743200" cy="1005840"/>
            <a:chOff x="0" y="0"/>
            <a:chExt cx="3657600" cy="13411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954512" y="8229600"/>
            <a:ext cx="3108960" cy="640080"/>
            <a:chOff x="0" y="0"/>
            <a:chExt cx="414528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inner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pos 5 → outer pos 8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379959" y="5565143"/>
            <a:ext cx="2768603" cy="3225803"/>
            <a:chOff x="0" y="0"/>
            <a:chExt cx="3691471" cy="43010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36576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913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4284091"/>
                  </a:lnTo>
                  <a:cubicBezTo>
                    <a:pt x="3691382" y="4293489"/>
                    <a:pt x="3683762" y="4300982"/>
                    <a:pt x="367449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3674491" y="4267200"/>
                  </a:lnTo>
                  <a:lnTo>
                    <a:pt x="3674491" y="4284091"/>
                  </a:lnTo>
                  <a:lnTo>
                    <a:pt x="3657600" y="428409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4392656" y="5669280"/>
            <a:ext cx="2743200" cy="1005840"/>
            <a:chOff x="0" y="0"/>
            <a:chExt cx="3657600" cy="13411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392656" y="6675120"/>
            <a:ext cx="2743200" cy="512064"/>
            <a:chOff x="0" y="0"/>
            <a:chExt cx="3657600" cy="6827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392656" y="7187184"/>
            <a:ext cx="2743200" cy="1005840"/>
            <a:chOff x="0" y="0"/>
            <a:chExt cx="3657600" cy="13411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04775"/>
              <a:ext cx="3657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209776" y="8229600"/>
            <a:ext cx="3108960" cy="640080"/>
            <a:chOff x="0" y="0"/>
            <a:chExt cx="4145280" cy="8534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145280" cy="853440"/>
            </a:xfrm>
            <a:custGeom>
              <a:avLst/>
              <a:gdLst/>
              <a:ahLst/>
              <a:cxnLst/>
              <a:rect r="r" b="b" t="t" l="l"/>
              <a:pathLst>
                <a:path h="853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414528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</a:t>
              </a:r>
              <a:r>
                <a:rPr lang="en-US" sz="16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 → inner pos 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48640" y="9052560"/>
            <a:ext cx="17190720" cy="731520"/>
            <a:chOff x="0" y="0"/>
            <a:chExt cx="22920960" cy="9753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66675"/>
              <a:ext cx="229209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QUEEN  →  HLUUE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 · Mirror Permutation (First Reversal)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45920"/>
            <a:ext cx="17190720" cy="731520"/>
            <a:chOff x="0" y="0"/>
            <a:chExt cx="2292096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Reverse the order of the resulting characters from Step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651760"/>
            <a:ext cx="17190720" cy="585216"/>
            <a:chOff x="0" y="0"/>
            <a:chExt cx="2292096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(after clockface substitution)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1270" y="3309366"/>
            <a:ext cx="2049780" cy="1866900"/>
            <a:chOff x="0" y="0"/>
            <a:chExt cx="2733040" cy="248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60320" y="3328416"/>
            <a:ext cx="2011680" cy="1097280"/>
            <a:chOff x="0" y="0"/>
            <a:chExt cx="26822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60320" y="4535424"/>
            <a:ext cx="2011680" cy="548640"/>
            <a:chOff x="0" y="0"/>
            <a:chExt cx="268224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93030" y="3309366"/>
            <a:ext cx="2049780" cy="1866900"/>
            <a:chOff x="0" y="0"/>
            <a:chExt cx="2733040" cy="248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212080" y="3328416"/>
            <a:ext cx="2011680" cy="1097280"/>
            <a:chOff x="0" y="0"/>
            <a:chExt cx="26822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12080" y="4535424"/>
            <a:ext cx="2011680" cy="548640"/>
            <a:chOff x="0" y="0"/>
            <a:chExt cx="26822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44790" y="3309366"/>
            <a:ext cx="2049780" cy="1866900"/>
            <a:chOff x="0" y="0"/>
            <a:chExt cx="2733040" cy="248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863840" y="3328416"/>
            <a:ext cx="2011680" cy="1097280"/>
            <a:chOff x="0" y="0"/>
            <a:chExt cx="26822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63840" y="4535424"/>
            <a:ext cx="2011680" cy="548640"/>
            <a:chOff x="0" y="0"/>
            <a:chExt cx="268224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96550" y="3309366"/>
            <a:ext cx="2049780" cy="1866900"/>
            <a:chOff x="0" y="0"/>
            <a:chExt cx="2733040" cy="248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515600" y="3328416"/>
            <a:ext cx="2011680" cy="1097280"/>
            <a:chOff x="0" y="0"/>
            <a:chExt cx="268224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15600" y="4535424"/>
            <a:ext cx="2011680" cy="548640"/>
            <a:chOff x="0" y="0"/>
            <a:chExt cx="26822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148310" y="3309366"/>
            <a:ext cx="2049780" cy="1866900"/>
            <a:chOff x="0" y="0"/>
            <a:chExt cx="2733040" cy="248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167360" y="3328416"/>
            <a:ext cx="2011680" cy="1097280"/>
            <a:chOff x="0" y="0"/>
            <a:chExt cx="268224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0" y="4535424"/>
            <a:ext cx="2011680" cy="548640"/>
            <a:chOff x="0" y="0"/>
            <a:chExt cx="268224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022343" y="5565143"/>
            <a:ext cx="6243323" cy="848363"/>
            <a:chOff x="0" y="0"/>
            <a:chExt cx="8324431" cy="113115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3243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114171"/>
                  </a:lnTo>
                  <a:cubicBezTo>
                    <a:pt x="8324342" y="1123569"/>
                    <a:pt x="8316722" y="1131062"/>
                    <a:pt x="83074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307451" y="1097280"/>
                  </a:lnTo>
                  <a:lnTo>
                    <a:pt x="8307451" y="1114171"/>
                  </a:lnTo>
                  <a:lnTo>
                    <a:pt x="8290560" y="111417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035040" y="5577840"/>
            <a:ext cx="6217920" cy="822960"/>
            <a:chOff x="0" y="0"/>
            <a:chExt cx="829056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82905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 REVERSE ORDER  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48640" y="6583680"/>
            <a:ext cx="17190720" cy="585216"/>
            <a:chOff x="0" y="0"/>
            <a:chExt cx="2292096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(first permutation)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541270" y="7222998"/>
            <a:ext cx="2049780" cy="1866900"/>
            <a:chOff x="0" y="0"/>
            <a:chExt cx="2733040" cy="248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560320" y="7242048"/>
            <a:ext cx="2011680" cy="1097280"/>
            <a:chOff x="0" y="0"/>
            <a:chExt cx="2682240" cy="1463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560320" y="8449056"/>
            <a:ext cx="2011680" cy="548640"/>
            <a:chOff x="0" y="0"/>
            <a:chExt cx="268224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193030" y="7222998"/>
            <a:ext cx="2049780" cy="1866900"/>
            <a:chOff x="0" y="0"/>
            <a:chExt cx="2733040" cy="248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212080" y="7242048"/>
            <a:ext cx="2011680" cy="1097280"/>
            <a:chOff x="0" y="0"/>
            <a:chExt cx="2682240" cy="14630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212080" y="8449056"/>
            <a:ext cx="2011680" cy="548640"/>
            <a:chOff x="0" y="0"/>
            <a:chExt cx="268224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844790" y="7222998"/>
            <a:ext cx="2049780" cy="1866900"/>
            <a:chOff x="0" y="0"/>
            <a:chExt cx="2733040" cy="24892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863840" y="7242048"/>
            <a:ext cx="2011680" cy="1097280"/>
            <a:chOff x="0" y="0"/>
            <a:chExt cx="2682240" cy="14630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863840" y="8449056"/>
            <a:ext cx="2011680" cy="548640"/>
            <a:chOff x="0" y="0"/>
            <a:chExt cx="268224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3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496550" y="7222998"/>
            <a:ext cx="2049780" cy="1866900"/>
            <a:chOff x="0" y="0"/>
            <a:chExt cx="2733040" cy="24892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515600" y="7242048"/>
            <a:ext cx="2011680" cy="1097280"/>
            <a:chOff x="0" y="0"/>
            <a:chExt cx="2682240" cy="14630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515600" y="8449056"/>
            <a:ext cx="2011680" cy="548640"/>
            <a:chOff x="0" y="0"/>
            <a:chExt cx="268224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4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148310" y="7222998"/>
            <a:ext cx="2049780" cy="1866900"/>
            <a:chOff x="0" y="0"/>
            <a:chExt cx="2733040" cy="2489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25400" y="25400"/>
              <a:ext cx="26822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7330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2463800"/>
                  </a:lnTo>
                  <a:cubicBezTo>
                    <a:pt x="2733040" y="2477770"/>
                    <a:pt x="2721610" y="2489200"/>
                    <a:pt x="27076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2707640" y="2438400"/>
                  </a:lnTo>
                  <a:lnTo>
                    <a:pt x="2707640" y="2463800"/>
                  </a:lnTo>
                  <a:lnTo>
                    <a:pt x="2682240" y="246380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167360" y="7242048"/>
            <a:ext cx="2011680" cy="1097280"/>
            <a:chOff x="0" y="0"/>
            <a:chExt cx="268224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82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23825"/>
              <a:ext cx="26822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167360" y="8449056"/>
            <a:ext cx="2011680" cy="548640"/>
            <a:chOff x="0" y="0"/>
            <a:chExt cx="268224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682240" cy="731520"/>
            </a:xfrm>
            <a:custGeom>
              <a:avLst/>
              <a:gdLst/>
              <a:ahLst/>
              <a:cxnLst/>
              <a:rect r="r" b="b" t="t" l="l"/>
              <a:pathLst>
                <a:path h="7315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26822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 5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548640" y="9454896"/>
            <a:ext cx="17190720" cy="658368"/>
            <a:chOff x="0" y="0"/>
            <a:chExt cx="22920960" cy="8778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920961" cy="877824"/>
            </a:xfrm>
            <a:custGeom>
              <a:avLst/>
              <a:gdLst/>
              <a:ahLst/>
              <a:cxnLst/>
              <a:rect r="r" b="b" t="t" l="l"/>
              <a:pathLst>
                <a:path h="87782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2292096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HLUUE  →  EUULH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· Reverse Cipher Substitution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09344"/>
            <a:ext cx="17190720" cy="640080"/>
            <a:chOff x="0" y="0"/>
            <a:chExt cx="229209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312" r="0" b="-4733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920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Convert each letter using reversed alphabetical numbering (A=25, Z=00)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48640" y="2377440"/>
          <a:ext cx="4368800" cy="74676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Letter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5212080" y="2377440"/>
          <a:ext cx="4368800" cy="7467600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Letter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1B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A939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94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10045703" y="2364743"/>
            <a:ext cx="7889243" cy="6426203"/>
            <a:chOff x="0" y="0"/>
            <a:chExt cx="10518991" cy="85682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8901" cy="8568182"/>
            </a:xfrm>
            <a:custGeom>
              <a:avLst/>
              <a:gdLst/>
              <a:ahLst/>
              <a:cxnLst/>
              <a:rect r="r" b="b" t="t" l="l"/>
              <a:pathLst>
                <a:path h="8568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8551291"/>
                  </a:lnTo>
                  <a:cubicBezTo>
                    <a:pt x="10518901" y="8560689"/>
                    <a:pt x="10511282" y="8568182"/>
                    <a:pt x="1050201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0502011" y="8534400"/>
                  </a:lnTo>
                  <a:lnTo>
                    <a:pt x="10502011" y="8551291"/>
                  </a:lnTo>
                  <a:lnTo>
                    <a:pt x="10485120" y="8551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49840" y="2523744"/>
            <a:ext cx="7680960" cy="694944"/>
            <a:chOff x="0" y="0"/>
            <a:chExt cx="10241280" cy="926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Example — EUULH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37143" y="3425447"/>
            <a:ext cx="903227" cy="756923"/>
            <a:chOff x="0" y="0"/>
            <a:chExt cx="1204303" cy="10092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149840" y="3438144"/>
            <a:ext cx="877824" cy="731520"/>
            <a:chOff x="0" y="0"/>
            <a:chExt cx="1170432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55680" y="3438144"/>
            <a:ext cx="548640" cy="731520"/>
            <a:chOff x="0" y="0"/>
            <a:chExt cx="73152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887200" y="3438144"/>
            <a:ext cx="1097280" cy="731520"/>
            <a:chOff x="0" y="0"/>
            <a:chExt cx="146304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37143" y="4376423"/>
            <a:ext cx="903227" cy="756923"/>
            <a:chOff x="0" y="0"/>
            <a:chExt cx="1204303" cy="10092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149840" y="4389120"/>
            <a:ext cx="877824" cy="731520"/>
            <a:chOff x="0" y="0"/>
            <a:chExt cx="1170432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55680" y="4389120"/>
            <a:ext cx="548640" cy="731520"/>
            <a:chOff x="0" y="0"/>
            <a:chExt cx="731520" cy="975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87200" y="4389120"/>
            <a:ext cx="1097280" cy="731520"/>
            <a:chOff x="0" y="0"/>
            <a:chExt cx="146304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137143" y="5327399"/>
            <a:ext cx="903227" cy="756923"/>
            <a:chOff x="0" y="0"/>
            <a:chExt cx="1204303" cy="1009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149840" y="5340096"/>
            <a:ext cx="877824" cy="731520"/>
            <a:chOff x="0" y="0"/>
            <a:chExt cx="1170432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155680" y="5340096"/>
            <a:ext cx="548640" cy="731520"/>
            <a:chOff x="0" y="0"/>
            <a:chExt cx="73152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87200" y="5340096"/>
            <a:ext cx="1097280" cy="731520"/>
            <a:chOff x="0" y="0"/>
            <a:chExt cx="146304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37143" y="6278375"/>
            <a:ext cx="903227" cy="756923"/>
            <a:chOff x="0" y="0"/>
            <a:chExt cx="1204303" cy="10092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149840" y="6291072"/>
            <a:ext cx="877824" cy="731520"/>
            <a:chOff x="0" y="0"/>
            <a:chExt cx="1170432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155680" y="6291072"/>
            <a:ext cx="548640" cy="731520"/>
            <a:chOff x="0" y="0"/>
            <a:chExt cx="731520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87200" y="6291072"/>
            <a:ext cx="1097280" cy="731520"/>
            <a:chOff x="0" y="0"/>
            <a:chExt cx="146304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137143" y="7229351"/>
            <a:ext cx="903227" cy="756923"/>
            <a:chOff x="0" y="0"/>
            <a:chExt cx="1204303" cy="10092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04214" cy="1009144"/>
            </a:xfrm>
            <a:custGeom>
              <a:avLst/>
              <a:gdLst/>
              <a:ahLst/>
              <a:cxnLst/>
              <a:rect r="r" b="b" t="t" l="l"/>
              <a:pathLst>
                <a:path h="1009144" w="1204214">
                  <a:moveTo>
                    <a:pt x="16891" y="0"/>
                  </a:moveTo>
                  <a:lnTo>
                    <a:pt x="1187323" y="0"/>
                  </a:lnTo>
                  <a:cubicBezTo>
                    <a:pt x="1196721" y="0"/>
                    <a:pt x="1204214" y="7620"/>
                    <a:pt x="1204214" y="16891"/>
                  </a:cubicBezTo>
                  <a:lnTo>
                    <a:pt x="1204214" y="992251"/>
                  </a:lnTo>
                  <a:cubicBezTo>
                    <a:pt x="1204214" y="1001649"/>
                    <a:pt x="1196594" y="1009142"/>
                    <a:pt x="1187323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87323" y="975360"/>
                  </a:lnTo>
                  <a:lnTo>
                    <a:pt x="1187323" y="992251"/>
                  </a:lnTo>
                  <a:lnTo>
                    <a:pt x="1170432" y="992251"/>
                  </a:lnTo>
                  <a:lnTo>
                    <a:pt x="1170432" y="16891"/>
                  </a:lnTo>
                  <a:lnTo>
                    <a:pt x="1187323" y="16891"/>
                  </a:lnTo>
                  <a:lnTo>
                    <a:pt x="11873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149840" y="7242048"/>
            <a:ext cx="877824" cy="731520"/>
            <a:chOff x="0" y="0"/>
            <a:chExt cx="1170432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70432" cy="975360"/>
            </a:xfrm>
            <a:custGeom>
              <a:avLst/>
              <a:gdLst/>
              <a:ahLst/>
              <a:cxnLst/>
              <a:rect r="r" b="b" t="t" l="l"/>
              <a:pathLst>
                <a:path h="975360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170432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155680" y="7242048"/>
            <a:ext cx="548640" cy="731520"/>
            <a:chOff x="0" y="0"/>
            <a:chExt cx="73152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071" t="0" r="-12107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731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=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87200" y="7242048"/>
            <a:ext cx="1097280" cy="731520"/>
            <a:chOff x="0" y="0"/>
            <a:chExt cx="146304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304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4630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137143" y="8308343"/>
            <a:ext cx="7706363" cy="903227"/>
            <a:chOff x="0" y="0"/>
            <a:chExt cx="10275151" cy="120430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0241281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75062" cy="1204216"/>
            </a:xfrm>
            <a:custGeom>
              <a:avLst/>
              <a:gdLst/>
              <a:ahLst/>
              <a:cxnLst/>
              <a:rect r="r" b="b" t="t" l="l"/>
              <a:pathLst>
                <a:path h="1204216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187323"/>
                  </a:lnTo>
                  <a:cubicBezTo>
                    <a:pt x="10275062" y="1196721"/>
                    <a:pt x="10267442" y="1204214"/>
                    <a:pt x="10258172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10258172" y="1170432"/>
                  </a:lnTo>
                  <a:lnTo>
                    <a:pt x="10258172" y="1187323"/>
                  </a:lnTo>
                  <a:lnTo>
                    <a:pt x="10241280" y="118732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149840" y="8321040"/>
            <a:ext cx="7680960" cy="877824"/>
            <a:chOff x="0" y="0"/>
            <a:chExt cx="10241280" cy="11704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412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1024128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Result:  21-05-05-14-18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397003"/>
            <a:chOff x="0" y="0"/>
            <a:chExt cx="24417871" cy="1862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845691"/>
                  </a:lnTo>
                  <a:cubicBezTo>
                    <a:pt x="24417782" y="1855089"/>
                    <a:pt x="24410163" y="1862582"/>
                    <a:pt x="24400890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4400890" y="1828800"/>
                  </a:lnTo>
                  <a:lnTo>
                    <a:pt x="24400890" y="1845691"/>
                  </a:lnTo>
                  <a:lnTo>
                    <a:pt x="24384000" y="18456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3657600" cy="1371600"/>
            <a:chOff x="0" y="0"/>
            <a:chExt cx="48768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768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320" y="0"/>
            <a:ext cx="17373600" cy="1371600"/>
            <a:chOff x="0" y="0"/>
            <a:chExt cx="231648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316480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· Consecutive Pair Swapping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1645920"/>
            <a:ext cx="17190720" cy="694944"/>
            <a:chOff x="0" y="0"/>
            <a:chExt cx="2292096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92096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con</a:t>
              </a:r>
              <a:r>
                <a:rPr lang="en-US" sz="2600" i="true">
                  <a:solidFill>
                    <a:srgbClr val="0A93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secutive pairs for the final rearrangement: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651760"/>
            <a:ext cx="17190720" cy="585216"/>
            <a:chOff x="0" y="0"/>
            <a:chExt cx="2292096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sequence (after Reverse Cipher)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41270" y="3309366"/>
            <a:ext cx="2049780" cy="1501140"/>
            <a:chOff x="0" y="0"/>
            <a:chExt cx="2733040" cy="200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60320" y="3328416"/>
            <a:ext cx="2011680" cy="1463040"/>
            <a:chOff x="0" y="0"/>
            <a:chExt cx="268224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93030" y="3309366"/>
            <a:ext cx="2049780" cy="1501140"/>
            <a:chOff x="0" y="0"/>
            <a:chExt cx="2733040" cy="200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212080" y="3328416"/>
            <a:ext cx="2011680" cy="1463040"/>
            <a:chOff x="0" y="0"/>
            <a:chExt cx="2682240" cy="1950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44790" y="3309366"/>
            <a:ext cx="2049780" cy="1501140"/>
            <a:chOff x="0" y="0"/>
            <a:chExt cx="2733040" cy="200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863840" y="3328416"/>
            <a:ext cx="2011680" cy="1463040"/>
            <a:chOff x="0" y="0"/>
            <a:chExt cx="2682240" cy="1950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96550" y="3309366"/>
            <a:ext cx="2049780" cy="1501140"/>
            <a:chOff x="0" y="0"/>
            <a:chExt cx="2733040" cy="200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515600" y="3328416"/>
            <a:ext cx="2011680" cy="1463040"/>
            <a:chOff x="0" y="0"/>
            <a:chExt cx="26822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48310" y="3309366"/>
            <a:ext cx="2049780" cy="1501140"/>
            <a:chOff x="0" y="0"/>
            <a:chExt cx="2733040" cy="200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167360" y="3328416"/>
            <a:ext cx="2011680" cy="1463040"/>
            <a:chOff x="0" y="0"/>
            <a:chExt cx="268224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022343" y="5144519"/>
            <a:ext cx="6243323" cy="848363"/>
            <a:chOff x="0" y="0"/>
            <a:chExt cx="8324431" cy="11311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243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1114171"/>
                  </a:lnTo>
                  <a:cubicBezTo>
                    <a:pt x="8324342" y="1123569"/>
                    <a:pt x="8316722" y="1131062"/>
                    <a:pt x="83074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8307451" y="1097280"/>
                  </a:lnTo>
                  <a:lnTo>
                    <a:pt x="8307451" y="1114171"/>
                  </a:lnTo>
                  <a:lnTo>
                    <a:pt x="8290560" y="111417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35040" y="5157216"/>
            <a:ext cx="6217920" cy="822960"/>
            <a:chOff x="0" y="0"/>
            <a:chExt cx="829056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905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2905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  REVERSE SEQUENCE  ↓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48640" y="6181344"/>
            <a:ext cx="17190720" cy="585216"/>
            <a:chOff x="0" y="0"/>
            <a:chExt cx="2292096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92096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E9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— Final Ciphertext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41270" y="6820662"/>
            <a:ext cx="2049780" cy="1501140"/>
            <a:chOff x="0" y="0"/>
            <a:chExt cx="2733040" cy="200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560320" y="6839712"/>
            <a:ext cx="2011680" cy="1463040"/>
            <a:chOff x="0" y="0"/>
            <a:chExt cx="268224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193030" y="6820662"/>
            <a:ext cx="2049780" cy="1501140"/>
            <a:chOff x="0" y="0"/>
            <a:chExt cx="2733040" cy="200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212080" y="6839712"/>
            <a:ext cx="2011680" cy="1463040"/>
            <a:chOff x="0" y="0"/>
            <a:chExt cx="2682240" cy="1950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844790" y="6820662"/>
            <a:ext cx="2049780" cy="1501140"/>
            <a:chOff x="0" y="0"/>
            <a:chExt cx="2733040" cy="200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863840" y="6839712"/>
            <a:ext cx="2011680" cy="1463040"/>
            <a:chOff x="0" y="0"/>
            <a:chExt cx="2682240" cy="19507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96550" y="6820662"/>
            <a:ext cx="2049780" cy="1501140"/>
            <a:chOff x="0" y="0"/>
            <a:chExt cx="2733040" cy="200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515600" y="6839712"/>
            <a:ext cx="2011680" cy="1463040"/>
            <a:chOff x="0" y="0"/>
            <a:chExt cx="2682240" cy="1950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148310" y="6820662"/>
            <a:ext cx="2049780" cy="1501140"/>
            <a:chOff x="0" y="0"/>
            <a:chExt cx="2733040" cy="200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330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2733040">
                  <a:moveTo>
                    <a:pt x="25400" y="0"/>
                  </a:moveTo>
                  <a:lnTo>
                    <a:pt x="2707640" y="0"/>
                  </a:lnTo>
                  <a:cubicBezTo>
                    <a:pt x="2721610" y="0"/>
                    <a:pt x="2733040" y="11430"/>
                    <a:pt x="2733040" y="25400"/>
                  </a:cubicBezTo>
                  <a:lnTo>
                    <a:pt x="2733040" y="1976120"/>
                  </a:lnTo>
                  <a:cubicBezTo>
                    <a:pt x="2733040" y="1990090"/>
                    <a:pt x="2721610" y="2001520"/>
                    <a:pt x="27076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2707640" y="1950720"/>
                  </a:lnTo>
                  <a:lnTo>
                    <a:pt x="2707640" y="1976120"/>
                  </a:lnTo>
                  <a:lnTo>
                    <a:pt x="2682240" y="1976120"/>
                  </a:lnTo>
                  <a:lnTo>
                    <a:pt x="2682240" y="25400"/>
                  </a:lnTo>
                  <a:lnTo>
                    <a:pt x="2707640" y="25400"/>
                  </a:lnTo>
                  <a:lnTo>
                    <a:pt x="27076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167360" y="6839712"/>
            <a:ext cx="2011680" cy="1463040"/>
            <a:chOff x="0" y="0"/>
            <a:chExt cx="2682240" cy="1950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682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1" t="0" r="-4331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85725"/>
              <a:ext cx="268224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8640" y="8631936"/>
            <a:ext cx="17190720" cy="731520"/>
            <a:chOff x="0" y="0"/>
            <a:chExt cx="2292096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920961" cy="975360"/>
            </a:xfrm>
            <a:custGeom>
              <a:avLst/>
              <a:gdLst/>
              <a:ahLst/>
              <a:cxnLst/>
              <a:rect r="r" b="b" t="t" l="l"/>
              <a:pathLst>
                <a:path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229209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21-05-05-14-18  →  05-21-14-05-18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214123"/>
            <a:chOff x="0" y="0"/>
            <a:chExt cx="24417871" cy="1618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01851"/>
                  </a:lnTo>
                  <a:cubicBezTo>
                    <a:pt x="24417782" y="1611249"/>
                    <a:pt x="24410163" y="1618742"/>
                    <a:pt x="24400890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24400890" y="1584960"/>
                  </a:lnTo>
                  <a:lnTo>
                    <a:pt x="24400890" y="1601851"/>
                  </a:lnTo>
                  <a:lnTo>
                    <a:pt x="24384000" y="16018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0" y="0"/>
            <a:ext cx="17739360" cy="1188720"/>
            <a:chOff x="0" y="0"/>
            <a:chExt cx="23652480" cy="1584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6524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776" r="0" b="-2407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65248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 Encryption Flow: QUEEN → 18-14-05-05-21  (key 3:20)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9407" y="1420111"/>
            <a:ext cx="17569177" cy="1384297"/>
            <a:chOff x="0" y="0"/>
            <a:chExt cx="23425569" cy="1845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1680" y="1609344"/>
            <a:ext cx="2743200" cy="1005840"/>
            <a:chOff x="0" y="0"/>
            <a:chExt cx="3657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Plaintext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46320" y="1517904"/>
            <a:ext cx="7315200" cy="1188720"/>
            <a:chOff x="0" y="0"/>
            <a:chExt cx="975360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QUEEN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52960" y="1700784"/>
            <a:ext cx="5486400" cy="822960"/>
            <a:chOff x="0" y="0"/>
            <a:chExt cx="731520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Original message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46720" y="2670048"/>
            <a:ext cx="914400" cy="457200"/>
            <a:chOff x="0" y="0"/>
            <a:chExt cx="12192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59407" y="3029455"/>
            <a:ext cx="17569177" cy="1384297"/>
            <a:chOff x="0" y="0"/>
            <a:chExt cx="23425569" cy="184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53063" y="3023111"/>
            <a:ext cx="1579883" cy="1397003"/>
            <a:chOff x="0" y="0"/>
            <a:chExt cx="2106511" cy="1862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65760" y="3035808"/>
            <a:ext cx="1554480" cy="1371600"/>
            <a:chOff x="0" y="0"/>
            <a:chExt cx="207264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1680" y="3218688"/>
            <a:ext cx="2743200" cy="1005840"/>
            <a:chOff x="0" y="0"/>
            <a:chExt cx="365760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46320" y="3127248"/>
            <a:ext cx="7315200" cy="1188720"/>
            <a:chOff x="0" y="0"/>
            <a:chExt cx="9753600" cy="1584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A939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HLUUE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52960" y="3310128"/>
            <a:ext cx="5486400" cy="822960"/>
            <a:chOff x="0" y="0"/>
            <a:chExt cx="73152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Clockface substitution with key 3:20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0" y="4279392"/>
            <a:ext cx="914400" cy="457200"/>
            <a:chOff x="0" y="0"/>
            <a:chExt cx="12192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59407" y="4638799"/>
            <a:ext cx="17569177" cy="1384297"/>
            <a:chOff x="0" y="0"/>
            <a:chExt cx="23425569" cy="18457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53063" y="4632455"/>
            <a:ext cx="1579883" cy="1397003"/>
            <a:chOff x="0" y="0"/>
            <a:chExt cx="2106511" cy="18626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65760" y="4645152"/>
            <a:ext cx="1554480" cy="1371600"/>
            <a:chOff x="0" y="0"/>
            <a:chExt cx="207264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1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11680" y="4828032"/>
            <a:ext cx="2743200" cy="1005840"/>
            <a:chOff x="0" y="0"/>
            <a:chExt cx="365760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846320" y="4736592"/>
            <a:ext cx="7315200" cy="1188720"/>
            <a:chOff x="0" y="0"/>
            <a:chExt cx="9753600" cy="1584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808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EUULH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52960" y="4919472"/>
            <a:ext cx="5486400" cy="822960"/>
            <a:chOff x="0" y="0"/>
            <a:chExt cx="731520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Mirror permutation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0" y="5888736"/>
            <a:ext cx="914400" cy="457200"/>
            <a:chOff x="0" y="0"/>
            <a:chExt cx="121920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59407" y="6248143"/>
            <a:ext cx="17569177" cy="1384297"/>
            <a:chOff x="0" y="0"/>
            <a:chExt cx="23425569" cy="18457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53063" y="6241799"/>
            <a:ext cx="1579883" cy="1397003"/>
            <a:chOff x="0" y="0"/>
            <a:chExt cx="2106511" cy="186267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65760" y="6254496"/>
            <a:ext cx="1554480" cy="1371600"/>
            <a:chOff x="0" y="0"/>
            <a:chExt cx="2072640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011680" y="6437376"/>
            <a:ext cx="2743200" cy="1005840"/>
            <a:chOff x="0" y="0"/>
            <a:chExt cx="3657600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846320" y="6345936"/>
            <a:ext cx="7315200" cy="1188720"/>
            <a:chOff x="0" y="0"/>
            <a:chExt cx="9753600" cy="1584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2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21-05-05-14-18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252960" y="6528816"/>
            <a:ext cx="5486400" cy="822960"/>
            <a:chOff x="0" y="0"/>
            <a:chExt cx="731520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Reverse Cipher substitution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0" y="7498080"/>
            <a:ext cx="914400" cy="457200"/>
            <a:chOff x="0" y="0"/>
            <a:chExt cx="12192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19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2192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0A93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59407" y="7857487"/>
            <a:ext cx="17569177" cy="1384297"/>
            <a:chOff x="0" y="0"/>
            <a:chExt cx="23425569" cy="1845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23408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408640">
                  <a:moveTo>
                    <a:pt x="0" y="0"/>
                  </a:moveTo>
                  <a:lnTo>
                    <a:pt x="23408640" y="0"/>
                  </a:lnTo>
                  <a:lnTo>
                    <a:pt x="23408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425657" cy="1845818"/>
            </a:xfrm>
            <a:custGeom>
              <a:avLst/>
              <a:gdLst/>
              <a:ahLst/>
              <a:cxnLst/>
              <a:rect r="r" b="b" t="t" l="l"/>
              <a:pathLst>
                <a:path h="1845818" w="23425657">
                  <a:moveTo>
                    <a:pt x="8509" y="0"/>
                  </a:moveTo>
                  <a:lnTo>
                    <a:pt x="23417149" y="0"/>
                  </a:lnTo>
                  <a:cubicBezTo>
                    <a:pt x="23421848" y="0"/>
                    <a:pt x="23425657" y="3810"/>
                    <a:pt x="23425657" y="8509"/>
                  </a:cubicBezTo>
                  <a:lnTo>
                    <a:pt x="23425657" y="1837309"/>
                  </a:lnTo>
                  <a:cubicBezTo>
                    <a:pt x="23425657" y="1842008"/>
                    <a:pt x="23421848" y="1845818"/>
                    <a:pt x="23417149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23417149" y="1828800"/>
                  </a:lnTo>
                  <a:lnTo>
                    <a:pt x="23417149" y="1837309"/>
                  </a:lnTo>
                  <a:lnTo>
                    <a:pt x="23408639" y="1837309"/>
                  </a:lnTo>
                  <a:lnTo>
                    <a:pt x="23408639" y="8509"/>
                  </a:lnTo>
                  <a:lnTo>
                    <a:pt x="23417149" y="8509"/>
                  </a:lnTo>
                  <a:lnTo>
                    <a:pt x="23417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53063" y="7851143"/>
            <a:ext cx="1579883" cy="1397003"/>
            <a:chOff x="0" y="0"/>
            <a:chExt cx="2106511" cy="18626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064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1845691"/>
                  </a:lnTo>
                  <a:cubicBezTo>
                    <a:pt x="2106422" y="1855089"/>
                    <a:pt x="2098802" y="1862582"/>
                    <a:pt x="20895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089531" y="1828800"/>
                  </a:lnTo>
                  <a:lnTo>
                    <a:pt x="2089531" y="1845691"/>
                  </a:lnTo>
                  <a:lnTo>
                    <a:pt x="2072640" y="1845691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365760" y="7863840"/>
            <a:ext cx="1554480" cy="1371600"/>
            <a:chOff x="0" y="0"/>
            <a:chExt cx="2072640" cy="1828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72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209" t="0" r="-63209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20726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Round 2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011680" y="8046720"/>
            <a:ext cx="2743200" cy="1005840"/>
            <a:chOff x="0" y="0"/>
            <a:chExt cx="365760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3657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899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4846320" y="7955280"/>
            <a:ext cx="7315200" cy="1188720"/>
            <a:chOff x="0" y="0"/>
            <a:chExt cx="9753600" cy="1584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07" r="0" b="-6990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975360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  <a:r>
                <a:rPr lang="en-US" sz="36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-21-14-05-18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252960" y="8138160"/>
            <a:ext cx="5486400" cy="822960"/>
            <a:chOff x="0" y="0"/>
            <a:chExt cx="731520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99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consecutive pairs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Why MCRC Meets Project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8150" y="1718310"/>
            <a:ext cx="8359140" cy="3695700"/>
            <a:chOff x="0" y="0"/>
            <a:chExt cx="11145520" cy="492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503" y="1724663"/>
            <a:ext cx="1031243" cy="3683003"/>
            <a:chOff x="0" y="0"/>
            <a:chExt cx="137499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200" y="1737360"/>
            <a:ext cx="1005840" cy="3657600"/>
            <a:chOff x="0" y="0"/>
            <a:chExt cx="1341120" cy="487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1956816"/>
            <a:ext cx="6949440" cy="731520"/>
            <a:chOff x="0" y="0"/>
            <a:chExt cx="926592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Substitution Rounds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2834640"/>
            <a:ext cx="6949440" cy="914400"/>
            <a:chOff x="0" y="0"/>
            <a:chExt cx="92659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Clockface substitution (key-dependent)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3840480"/>
            <a:ext cx="6949440" cy="914400"/>
            <a:chOff x="0" y="0"/>
            <a:chExt cx="926592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Reverse numerical substitution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07830" y="1718310"/>
            <a:ext cx="8359140" cy="3695700"/>
            <a:chOff x="0" y="0"/>
            <a:chExt cx="11145520" cy="492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14183" y="1724663"/>
            <a:ext cx="1031243" cy="3683003"/>
            <a:chOff x="0" y="0"/>
            <a:chExt cx="1374991" cy="49106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EE9B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0" y="1737360"/>
            <a:ext cx="1005840" cy="3657600"/>
            <a:chOff x="0" y="0"/>
            <a:chExt cx="1341120" cy="4876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15600" y="1956816"/>
            <a:ext cx="6949440" cy="731520"/>
            <a:chOff x="0" y="0"/>
            <a:chExt cx="926592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Permutation Rounds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15600" y="2834640"/>
            <a:ext cx="6949440" cy="914400"/>
            <a:chOff x="0" y="0"/>
            <a:chExt cx="92659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First mirror reversal (after clockface)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15600" y="3840480"/>
            <a:ext cx="6949440" cy="914400"/>
            <a:chOff x="0" y="0"/>
            <a:chExt cx="926592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Second mirror reversal (after reverse cipher)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38150" y="5833110"/>
            <a:ext cx="8359140" cy="3695700"/>
            <a:chOff x="0" y="0"/>
            <a:chExt cx="11145520" cy="4927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44503" y="5839463"/>
            <a:ext cx="1031243" cy="3683003"/>
            <a:chOff x="0" y="0"/>
            <a:chExt cx="1374991" cy="4910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57200" y="5852160"/>
            <a:ext cx="1005840" cy="3657600"/>
            <a:chOff x="0" y="0"/>
            <a:chExt cx="1341120" cy="4876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6071616"/>
            <a:ext cx="6949440" cy="731520"/>
            <a:chOff x="0" y="0"/>
            <a:chExt cx="926592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Algorithm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45920" y="6949440"/>
            <a:ext cx="6949440" cy="914400"/>
            <a:chOff x="0" y="0"/>
            <a:chExt cx="926592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Two original ciphers combined into one pipeline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45920" y="7955280"/>
            <a:ext cx="6949440" cy="914400"/>
            <a:chOff x="0" y="0"/>
            <a:chExt cx="926592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Time-driven key rotation not seen in standard ciphers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07830" y="5833110"/>
            <a:ext cx="8359140" cy="3695700"/>
            <a:chOff x="0" y="0"/>
            <a:chExt cx="11145520" cy="4927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110947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45520" cy="4927600"/>
            </a:xfrm>
            <a:custGeom>
              <a:avLst/>
              <a:gdLst/>
              <a:ahLst/>
              <a:cxnLst/>
              <a:rect r="r" b="b" t="t" l="l"/>
              <a:pathLst>
                <a:path h="492760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902200"/>
                  </a:lnTo>
                  <a:cubicBezTo>
                    <a:pt x="11145520" y="4916170"/>
                    <a:pt x="11134089" y="4927600"/>
                    <a:pt x="11120120" y="4927600"/>
                  </a:cubicBezTo>
                  <a:lnTo>
                    <a:pt x="25400" y="4927600"/>
                  </a:lnTo>
                  <a:cubicBezTo>
                    <a:pt x="11430" y="4927600"/>
                    <a:pt x="0" y="4916170"/>
                    <a:pt x="0" y="49022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902200"/>
                  </a:lnTo>
                  <a:lnTo>
                    <a:pt x="25400" y="4902200"/>
                  </a:lnTo>
                  <a:lnTo>
                    <a:pt x="25400" y="4876800"/>
                  </a:lnTo>
                  <a:lnTo>
                    <a:pt x="11120120" y="4876800"/>
                  </a:lnTo>
                  <a:lnTo>
                    <a:pt x="11120120" y="4902200"/>
                  </a:lnTo>
                  <a:lnTo>
                    <a:pt x="11094720" y="490220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A808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314183" y="5839463"/>
            <a:ext cx="1031243" cy="3683003"/>
            <a:chOff x="0" y="0"/>
            <a:chExt cx="1374991" cy="49106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1A808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74902" cy="4910582"/>
            </a:xfrm>
            <a:custGeom>
              <a:avLst/>
              <a:gdLst/>
              <a:ahLst/>
              <a:cxnLst/>
              <a:rect r="r" b="b" t="t" l="l"/>
              <a:pathLst>
                <a:path h="4910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4893691"/>
                  </a:lnTo>
                  <a:cubicBezTo>
                    <a:pt x="1374902" y="4903089"/>
                    <a:pt x="1367282" y="4910582"/>
                    <a:pt x="1358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358011" y="4876800"/>
                  </a:lnTo>
                  <a:lnTo>
                    <a:pt x="1358011" y="4893691"/>
                  </a:lnTo>
                  <a:lnTo>
                    <a:pt x="1341120" y="4893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808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326880" y="5852160"/>
            <a:ext cx="1005840" cy="3657600"/>
            <a:chOff x="0" y="0"/>
            <a:chExt cx="1341120" cy="4876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41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558" t="0" r="-416558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1341120" cy="495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515600" y="6071616"/>
            <a:ext cx="6949440" cy="731520"/>
            <a:chOff x="0" y="0"/>
            <a:chExt cx="926592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2659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Key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515600" y="6949440"/>
            <a:ext cx="6949440" cy="914400"/>
            <a:chOff x="0" y="0"/>
            <a:chExt cx="926592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144 distinct configurations (12 × 12)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515600" y="7955280"/>
            <a:ext cx="6949440" cy="914400"/>
            <a:chOff x="0" y="0"/>
            <a:chExt cx="926592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2659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55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Decryption impossible without the exact key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Algorithm Pseudocode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426464"/>
            <a:ext cx="17190720" cy="640080"/>
            <a:chOff x="0" y="0"/>
            <a:chExt cx="2292096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3312" r="0" b="-4733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9209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4D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MCRC v2 — Mirror Clock Reverse Cipher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218439"/>
            <a:ext cx="17216123" cy="6974843"/>
            <a:chOff x="0" y="0"/>
            <a:chExt cx="22954831" cy="92997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2920960" cy="9265920"/>
            </a:xfrm>
            <a:custGeom>
              <a:avLst/>
              <a:gdLst/>
              <a:ahLst/>
              <a:cxnLst/>
              <a:rect r="r" b="b" t="t" l="l"/>
              <a:pathLst>
                <a:path h="92659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07152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954743" cy="9299701"/>
            </a:xfrm>
            <a:custGeom>
              <a:avLst/>
              <a:gdLst/>
              <a:ahLst/>
              <a:cxnLst/>
              <a:rect r="r" b="b" t="t" l="l"/>
              <a:pathLst>
                <a:path h="9299701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9282811"/>
                  </a:lnTo>
                  <a:cubicBezTo>
                    <a:pt x="22954743" y="9292209"/>
                    <a:pt x="22947123" y="9299701"/>
                    <a:pt x="2293785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22937851" y="9265920"/>
                  </a:lnTo>
                  <a:lnTo>
                    <a:pt x="22937851" y="9282811"/>
                  </a:lnTo>
                  <a:lnTo>
                    <a:pt x="22920961" y="92828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377440"/>
            <a:ext cx="16642080" cy="420624"/>
            <a:chOff x="0" y="0"/>
            <a:chExt cx="22189440" cy="560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plaintext 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807208"/>
            <a:ext cx="16642080" cy="420624"/>
            <a:chOff x="0" y="0"/>
            <a:chExt cx="22189440" cy="560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time key H:MM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(validate: hour 1–12, minute ∈ {0,5,...,55})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3666744"/>
            <a:ext cx="16642080" cy="420624"/>
            <a:chOff x="0" y="0"/>
            <a:chExt cx="22189440" cy="5608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hour_offset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←  H mod 12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096512"/>
            <a:ext cx="16642080" cy="420624"/>
            <a:chOff x="0" y="0"/>
            <a:chExt cx="22189440" cy="5608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minute_offset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←  MM ÷ 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4956048"/>
            <a:ext cx="16642080" cy="420624"/>
            <a:chOff x="0" y="0"/>
            <a:chExt cx="22189440" cy="5608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D2BD"/>
                  </a:solidFill>
                  <a:latin typeface="Consolas"/>
                  <a:ea typeface="Consolas"/>
                  <a:cs typeface="Consolas"/>
                  <a:sym typeface="Consolas"/>
                </a:rPr>
                <a:t>Rotate inner ring by hour_offset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385816"/>
            <a:ext cx="16642080" cy="420624"/>
            <a:chOff x="0" y="0"/>
            <a:chExt cx="22189440" cy="560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D2BD"/>
                  </a:solidFill>
                  <a:latin typeface="Consolas"/>
                  <a:ea typeface="Consolas"/>
                  <a:cs typeface="Consolas"/>
                  <a:sym typeface="Consolas"/>
                </a:rPr>
                <a:t>Rotate outer ring by minute_offset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6245352"/>
            <a:ext cx="16642080" cy="420624"/>
            <a:chOff x="0" y="0"/>
            <a:chExt cx="22189440" cy="5608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S1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ClockfaceCipher(P)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// substitution round 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6675120"/>
            <a:ext cx="16642080" cy="420624"/>
            <a:chOff x="0" y="0"/>
            <a:chExt cx="22189440" cy="5608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P1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Reverse(S1)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// permutation round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7104888"/>
            <a:ext cx="16642080" cy="420624"/>
            <a:chOff x="0" y="0"/>
            <a:chExt cx="22189440" cy="5608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S2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←  ReverseCipher(P1)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// substitution round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7534656"/>
            <a:ext cx="16642080" cy="420624"/>
            <a:chOff x="0" y="0"/>
            <a:chExt cx="22189440" cy="5608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 ←  Reverse(S2)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// permutation round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8394192"/>
            <a:ext cx="16642080" cy="420624"/>
            <a:chOff x="0" y="0"/>
            <a:chExt cx="22189440" cy="5608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189439" cy="560832"/>
            </a:xfrm>
            <a:custGeom>
              <a:avLst/>
              <a:gdLst/>
              <a:ahLst/>
              <a:cxnLst/>
              <a:rect r="r" b="b" t="t" l="l"/>
              <a:pathLst>
                <a:path h="5608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929" r="0" b="-72092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2189440" cy="60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OUTPUT</a:t>
              </a: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 C</a:t>
              </a:r>
              <a:r>
                <a:rPr lang="en-US" sz="2200" i="true">
                  <a:solidFill>
                    <a:srgbClr val="55667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                       // final ciphertext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2287" y="9229087"/>
            <a:ext cx="17203417" cy="890521"/>
            <a:chOff x="0" y="0"/>
            <a:chExt cx="22937889" cy="11873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22920961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203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937978" cy="1187450"/>
            </a:xfrm>
            <a:custGeom>
              <a:avLst/>
              <a:gdLst/>
              <a:ahLst/>
              <a:cxnLst/>
              <a:rect r="r" b="b" t="t" l="l"/>
              <a:pathLst>
                <a:path h="1187450" w="22937978">
                  <a:moveTo>
                    <a:pt x="8509" y="0"/>
                  </a:moveTo>
                  <a:lnTo>
                    <a:pt x="22929470" y="0"/>
                  </a:lnTo>
                  <a:cubicBezTo>
                    <a:pt x="22934169" y="0"/>
                    <a:pt x="22937978" y="3810"/>
                    <a:pt x="22937978" y="8509"/>
                  </a:cubicBezTo>
                  <a:lnTo>
                    <a:pt x="22937978" y="1178941"/>
                  </a:lnTo>
                  <a:cubicBezTo>
                    <a:pt x="22937978" y="1183640"/>
                    <a:pt x="22934169" y="1187450"/>
                    <a:pt x="22929470" y="1187450"/>
                  </a:cubicBezTo>
                  <a:lnTo>
                    <a:pt x="8509" y="1187450"/>
                  </a:lnTo>
                  <a:cubicBezTo>
                    <a:pt x="3810" y="1187450"/>
                    <a:pt x="0" y="1183640"/>
                    <a:pt x="0" y="1178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78941"/>
                  </a:lnTo>
                  <a:lnTo>
                    <a:pt x="8509" y="1178941"/>
                  </a:lnTo>
                  <a:lnTo>
                    <a:pt x="8509" y="1170432"/>
                  </a:lnTo>
                  <a:lnTo>
                    <a:pt x="22929470" y="1170432"/>
                  </a:lnTo>
                  <a:lnTo>
                    <a:pt x="22929470" y="1178941"/>
                  </a:lnTo>
                  <a:lnTo>
                    <a:pt x="22920961" y="1178941"/>
                  </a:lnTo>
                  <a:lnTo>
                    <a:pt x="22920961" y="8509"/>
                  </a:lnTo>
                  <a:lnTo>
                    <a:pt x="22929470" y="8509"/>
                  </a:lnTo>
                  <a:lnTo>
                    <a:pt x="229294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9235440"/>
            <a:ext cx="16642080" cy="877824"/>
            <a:chOff x="0" y="0"/>
            <a:chExt cx="2218944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8943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403" r="0" b="-3194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21894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Original plaintext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S1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clockface substitution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P1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first mirror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S2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After reverse cipher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Final ciphertext output   </a:t>
              </a:r>
              <a:r>
                <a:rPr lang="en-US" sz="2000" b="true">
                  <a:solidFill>
                    <a:srgbClr val="EE9B0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key</a:t>
              </a:r>
              <a:r>
                <a:rPr lang="en-US" sz="2000">
                  <a:solidFill>
                    <a:srgbClr val="8899AA"/>
                  </a:solidFill>
                  <a:latin typeface="Consolas"/>
                  <a:ea typeface="Consolas"/>
                  <a:cs typeface="Consolas"/>
                  <a:sym typeface="Consolas"/>
                </a:rPr>
                <a:t> = Time key (e.g. 3:20)  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A939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9209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0D1B2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Strengths of MCRC v2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4503" y="1633223"/>
            <a:ext cx="5511803" cy="3683003"/>
            <a:chOff x="0" y="0"/>
            <a:chExt cx="7349071" cy="4910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503" y="1633223"/>
            <a:ext cx="5511803" cy="793499"/>
            <a:chOff x="0" y="0"/>
            <a:chExt cx="7349071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3504" y="1645920"/>
            <a:ext cx="877824" cy="768096"/>
            <a:chOff x="0" y="0"/>
            <a:chExt cx="1170432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1328" y="1645920"/>
            <a:ext cx="4297680" cy="768096"/>
            <a:chOff x="0" y="0"/>
            <a:chExt cx="573024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Key-Dependent Encryption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809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The major upgrade from v1 — the key now actually changes the output. Same plaintext + different key = completely different ciphertext.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296663" y="1633223"/>
            <a:ext cx="5511803" cy="3683003"/>
            <a:chOff x="0" y="0"/>
            <a:chExt cx="7349071" cy="4910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296663" y="1633223"/>
            <a:ext cx="5511803" cy="793499"/>
            <a:chOff x="0" y="0"/>
            <a:chExt cx="7349071" cy="1057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455664" y="1645920"/>
            <a:ext cx="877824" cy="768096"/>
            <a:chOff x="0" y="0"/>
            <a:chExt cx="1170432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33488" y="1645920"/>
            <a:ext cx="4297680" cy="768096"/>
            <a:chOff x="0" y="0"/>
            <a:chExt cx="5730240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144 Distinct Configurations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62025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12 hour positions × 12 minute positions. Every configuration produces a unique substitution mapping.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48823" y="1633223"/>
            <a:ext cx="5511803" cy="3683003"/>
            <a:chOff x="0" y="0"/>
            <a:chExt cx="7349071" cy="49106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148823" y="1633223"/>
            <a:ext cx="5511803" cy="793499"/>
            <a:chOff x="0" y="0"/>
            <a:chExt cx="7349071" cy="10579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07824" y="1645920"/>
            <a:ext cx="877824" cy="768096"/>
            <a:chOff x="0" y="0"/>
            <a:chExt cx="1170432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185648" y="1645920"/>
            <a:ext cx="4297680" cy="768096"/>
            <a:chOff x="0" y="0"/>
            <a:chExt cx="5730240" cy="10241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ROT13 Provable Baseline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472416" y="25584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At 12:00, both offsets are zero — v2 collapses exactly to v1. This makes v1 a provable special case of v2.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444503" y="5748023"/>
            <a:ext cx="5511803" cy="3683003"/>
            <a:chOff x="0" y="0"/>
            <a:chExt cx="7349071" cy="4910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44503" y="5748023"/>
            <a:ext cx="5511803" cy="793499"/>
            <a:chOff x="0" y="0"/>
            <a:chExt cx="7349071" cy="10579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3504" y="5760720"/>
            <a:ext cx="877824" cy="768096"/>
            <a:chOff x="0" y="0"/>
            <a:chExt cx="1170432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81328" y="5760720"/>
            <a:ext cx="4297680" cy="768096"/>
            <a:chOff x="0" y="0"/>
            <a:chExt cx="573024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Multi-Layer Complexity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76809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alphabetic substitution, positional permutation, and numerical encoding across 4 sequential steps.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296663" y="5748023"/>
            <a:ext cx="5511803" cy="3683003"/>
            <a:chOff x="0" y="0"/>
            <a:chExt cx="7349071" cy="49106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296663" y="5748023"/>
            <a:ext cx="5511803" cy="793499"/>
            <a:chOff x="0" y="0"/>
            <a:chExt cx="7349071" cy="10579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455664" y="5760720"/>
            <a:ext cx="877824" cy="768096"/>
            <a:chOff x="0" y="0"/>
            <a:chExt cx="1170432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333488" y="5760720"/>
            <a:ext cx="4297680" cy="768096"/>
            <a:chOff x="0" y="0"/>
            <a:chExt cx="5730240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Educational Transparency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662025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144 keys can be brute-forced by computer — this is an educational cipher. It demonstrates key sensitivity, invertibility, and provable v1 relationship.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2148823" y="5748023"/>
            <a:ext cx="5511803" cy="3683003"/>
            <a:chOff x="0" y="0"/>
            <a:chExt cx="7349071" cy="49106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73152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F0F7F8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48982" cy="4910582"/>
            </a:xfrm>
            <a:custGeom>
              <a:avLst/>
              <a:gdLst/>
              <a:ahLst/>
              <a:cxnLst/>
              <a:rect r="r" b="b" t="t" l="l"/>
              <a:pathLst>
                <a:path h="491058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4893691"/>
                  </a:lnTo>
                  <a:cubicBezTo>
                    <a:pt x="7348982" y="4903089"/>
                    <a:pt x="7341362" y="4910582"/>
                    <a:pt x="733209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7332091" y="4876800"/>
                  </a:lnTo>
                  <a:lnTo>
                    <a:pt x="7332091" y="4893691"/>
                  </a:lnTo>
                  <a:lnTo>
                    <a:pt x="7315200" y="489369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4D2BD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148823" y="5748023"/>
            <a:ext cx="5511803" cy="793499"/>
            <a:chOff x="0" y="0"/>
            <a:chExt cx="7349071" cy="105799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73152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4898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41019"/>
                  </a:lnTo>
                  <a:cubicBezTo>
                    <a:pt x="7348982" y="1050417"/>
                    <a:pt x="7341362" y="1057910"/>
                    <a:pt x="7332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332091" y="1024128"/>
                  </a:lnTo>
                  <a:lnTo>
                    <a:pt x="7332091" y="1041019"/>
                  </a:lnTo>
                  <a:lnTo>
                    <a:pt x="7315200" y="1041019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307824" y="5760720"/>
            <a:ext cx="877824" cy="768096"/>
            <a:chOff x="0" y="0"/>
            <a:chExt cx="1170432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704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265" t="0" r="-62265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1704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93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185648" y="5760720"/>
            <a:ext cx="4297680" cy="768096"/>
            <a:chOff x="0" y="0"/>
            <a:chExt cx="573024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7302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3" r="0" b="-5902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57302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 Demo Presence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2472416" y="6673215"/>
            <a:ext cx="4864608" cy="255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45566"/>
                </a:solidFill>
                <a:latin typeface="Calibri (MS)"/>
                <a:ea typeface="Calibri (MS)"/>
                <a:cs typeface="Calibri (MS)"/>
                <a:sym typeface="Calibri (MS)"/>
              </a:rPr>
              <a:t>The clockface metaphor and QUEEN → 18-14-05-05-21 example are visually compelling and easy to follow in a live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0A9396">
                <a:alpha val="1961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841497" y="6388103"/>
            <a:ext cx="6426203" cy="6426203"/>
            <a:chOff x="0" y="0"/>
            <a:chExt cx="85682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EE9B00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EE9B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463040"/>
            <a:ext cx="16459200" cy="1828800"/>
            <a:chOff x="0" y="0"/>
            <a:chExt cx="219456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383280"/>
            <a:ext cx="16459200" cy="822960"/>
            <a:chOff x="0" y="0"/>
            <a:chExt cx="21945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i="true">
                  <a:solidFill>
                    <a:srgbClr val="94D2B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Mirror Clock Reverse Cipher  —  v2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16103" y="4650743"/>
            <a:ext cx="3500123" cy="3317243"/>
            <a:chOff x="0" y="0"/>
            <a:chExt cx="4666831" cy="442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28800" y="4791456"/>
            <a:ext cx="3474720" cy="1554480"/>
            <a:chOff x="0" y="0"/>
            <a:chExt cx="4632960" cy="2072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2024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Substitution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Rounds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39463" y="4650743"/>
            <a:ext cx="3500123" cy="3317243"/>
            <a:chOff x="0" y="0"/>
            <a:chExt cx="4666831" cy="442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852160" y="4791456"/>
            <a:ext cx="3474720" cy="1554480"/>
            <a:chOff x="0" y="0"/>
            <a:chExt cx="4632960" cy="2072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94360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Permutation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Rounds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62823" y="4650743"/>
            <a:ext cx="3500123" cy="3317243"/>
            <a:chOff x="0" y="0"/>
            <a:chExt cx="4666831" cy="4422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75520" y="4791456"/>
            <a:ext cx="3474720" cy="1554480"/>
            <a:chOff x="0" y="0"/>
            <a:chExt cx="4632960" cy="207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6696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Total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Steps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886183" y="4650743"/>
            <a:ext cx="3500123" cy="3317243"/>
            <a:chOff x="0" y="0"/>
            <a:chExt cx="4666831" cy="4422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63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A1F3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6742" cy="4422902"/>
            </a:xfrm>
            <a:custGeom>
              <a:avLst/>
              <a:gdLst/>
              <a:ahLst/>
              <a:cxnLst/>
              <a:rect r="r" b="b" t="t" l="l"/>
              <a:pathLst>
                <a:path h="4422902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406011"/>
                  </a:lnTo>
                  <a:cubicBezTo>
                    <a:pt x="4666742" y="4415409"/>
                    <a:pt x="4659122" y="4422902"/>
                    <a:pt x="464985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4649851" y="4389120"/>
                  </a:lnTo>
                  <a:lnTo>
                    <a:pt x="4649851" y="4406011"/>
                  </a:lnTo>
                  <a:lnTo>
                    <a:pt x="4632960" y="4406011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939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898880" y="4791456"/>
            <a:ext cx="3474720" cy="1554480"/>
            <a:chOff x="0" y="0"/>
            <a:chExt cx="4632960" cy="2072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8" t="0" r="-739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63296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0A939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144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990320" y="6353556"/>
            <a:ext cx="329184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Key</a:t>
            </a:r>
          </a:p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899AA"/>
                </a:solidFill>
                <a:latin typeface="Calibri (MS)"/>
                <a:ea typeface="Calibri (MS)"/>
                <a:cs typeface="Calibri (MS)"/>
                <a:sym typeface="Calibri (MS)"/>
              </a:rPr>
              <a:t>Configs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9418320"/>
            <a:ext cx="16459200" cy="640080"/>
            <a:chOff x="0" y="0"/>
            <a:chExt cx="219456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8899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 386  ·  Spring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DAHHiftCllU</dc:identifier>
  <dcterms:modified xsi:type="dcterms:W3CDTF">2011-08-01T06:04:30Z</dcterms:modified>
  <cp:revision>1</cp:revision>
  <dc:title>MCRC_v2.pptx</dc:title>
</cp:coreProperties>
</file>